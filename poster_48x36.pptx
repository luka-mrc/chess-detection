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43891200" cy="32918400"/>
  <p:notesSz cx="6858000" cy="9144000"/>
  <p:embeddedFontLst>
    <p:embeddedFont>
      <p:font typeface="Montserrat Light" panose="020B0604020202020204" charset="0"/>
      <p:regular r:id="rId3"/>
    </p:embeddedFont>
    <p:embeddedFont>
      <p:font typeface="Sans Serif Collection" panose="020B0502040504020204" pitchFamily="34" charset="0"/>
      <p:regular r:id="rId4"/>
    </p:embeddedFont>
    <p:embeddedFont>
      <p:font typeface="Libre Baskerville" panose="020B0604020202020204" charset="0"/>
      <p:bold r:id="rId5"/>
    </p:embeddedFont>
  </p:embeddedFontLst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8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="" xmlns:p1710="http://schemas.microsoft.com/office/powerpoint/2017/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7" autoAdjust="0"/>
    <p:restoredTop sz="94660"/>
  </p:normalViewPr>
  <p:slideViewPr>
    <p:cSldViewPr>
      <p:cViewPr varScale="1">
        <p:scale>
          <a:sx n="16" d="100"/>
          <a:sy n="16" d="100"/>
        </p:scale>
        <p:origin x="106" y="1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8DF5FCE-FDEA-4465-BCF6-C7F63911A9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6170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43242BF-F4C0-49CF-80EA-38D6C064D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843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29423EF-61E0-492B-A58A-8462960B8B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720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5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0F45B66-FD4B-43D3-97DD-29BBADAFE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5441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134DC469-4A79-40F8-9FD1-29BC04AA7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682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7ED9D9-385C-4EF3-825C-DD7EC451E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49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D843B82-F4E2-4569-B1E8-B9E053E8F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20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3D2E94D-57D8-45DE-BBE8-59CBB7A5E3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65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2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1FD068A-1390-4726-BE45-AB18C473BC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8895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E3CA81D-4204-48B1-A4D7-36EFD127B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509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38" y="1317625"/>
            <a:ext cx="9875837" cy="2808922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922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1D08C6D-384C-4677-A8CE-0D580832C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4977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193925" y="7680325"/>
            <a:ext cx="19675475" cy="21726525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7680325"/>
            <a:ext cx="19675475" cy="21726525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947A3F5-B070-47AF-A223-F33332FE8B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196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8350"/>
            <a:ext cx="10242550" cy="22860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7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8350"/>
            <a:ext cx="13900150" cy="22860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>
              <a:defRPr sz="7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8350"/>
            <a:ext cx="10242550" cy="22860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7100" smtClean="0">
                <a:latin typeface="Arial" pitchFamily="34" charset="0"/>
              </a:defRPr>
            </a:lvl1pPr>
          </a:lstStyle>
          <a:p>
            <a:pPr>
              <a:defRPr/>
            </a:pPr>
            <a:fld id="{D74CA0E6-19C8-4E24-ACA2-24DF946E6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intellectualsage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2pPr>
      <a:lvl3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3pPr>
      <a:lvl4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4pPr>
      <a:lvl5pPr algn="ctr" defTabSz="4703763" rtl="0" eaLnBrk="0" fontAlgn="base" hangingPunct="0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5pPr>
      <a:lvl6pPr marL="4572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6pPr>
      <a:lvl7pPr marL="9144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7pPr>
      <a:lvl8pPr marL="13716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8pPr>
      <a:lvl9pPr marL="1828800" algn="ctr" defTabSz="4703763" rtl="0" fontAlgn="base">
        <a:spcBef>
          <a:spcPct val="0"/>
        </a:spcBef>
        <a:spcAft>
          <a:spcPct val="0"/>
        </a:spcAft>
        <a:defRPr sz="22700">
          <a:solidFill>
            <a:schemeClr val="tx2"/>
          </a:solidFill>
          <a:latin typeface="Arial"/>
        </a:defRPr>
      </a:lvl9pPr>
    </p:titleStyle>
    <p:bodyStyle>
      <a:defPPr>
        <a:defRPr kern="1200"/>
      </a:defPPr>
      <a:lvl1pPr marL="1762125" indent="-1762125" algn="l" defTabSz="4703763" rtl="0" eaLnBrk="0" fontAlgn="base" hangingPunct="0">
        <a:spcBef>
          <a:spcPct val="20000"/>
        </a:spcBef>
        <a:spcAft>
          <a:spcPct val="0"/>
        </a:spcAft>
        <a:buChar char="•"/>
        <a:defRPr sz="16500">
          <a:solidFill>
            <a:schemeClr val="tx1"/>
          </a:solidFill>
          <a:latin typeface="+mn-lt"/>
          <a:ea typeface="+mn-ea"/>
          <a:cs typeface="+mn-cs"/>
        </a:defRPr>
      </a:lvl1pPr>
      <a:lvl2pPr marL="3822700" indent="-1471613" algn="l" defTabSz="4703763" rtl="0" eaLnBrk="0" fontAlgn="base" hangingPunct="0">
        <a:spcBef>
          <a:spcPct val="20000"/>
        </a:spcBef>
        <a:spcAft>
          <a:spcPct val="0"/>
        </a:spcAft>
        <a:buChar char="–"/>
        <a:defRPr sz="14400">
          <a:solidFill>
            <a:schemeClr val="tx1"/>
          </a:solidFill>
          <a:latin typeface="+mn-lt"/>
        </a:defRPr>
      </a:lvl2pPr>
      <a:lvl3pPr marL="5878513" indent="-1174750" algn="l" defTabSz="4703763" rtl="0" eaLnBrk="0" fontAlgn="base" hangingPunct="0">
        <a:spcBef>
          <a:spcPct val="20000"/>
        </a:spcBef>
        <a:spcAft>
          <a:spcPct val="0"/>
        </a:spcAft>
        <a:buChar char="•"/>
        <a:defRPr sz="12400">
          <a:solidFill>
            <a:schemeClr val="tx1"/>
          </a:solidFill>
          <a:latin typeface="+mn-lt"/>
        </a:defRPr>
      </a:lvl3pPr>
      <a:lvl4pPr marL="8229600" indent="-1174750" algn="l" defTabSz="4703763" rtl="0" eaLnBrk="0" fontAlgn="base" hangingPunct="0">
        <a:spcBef>
          <a:spcPct val="20000"/>
        </a:spcBef>
        <a:spcAft>
          <a:spcPct val="0"/>
        </a:spcAft>
        <a:buChar char="–"/>
        <a:defRPr sz="10300">
          <a:solidFill>
            <a:schemeClr val="tx1"/>
          </a:solidFill>
          <a:latin typeface="+mn-lt"/>
        </a:defRPr>
      </a:lvl4pPr>
      <a:lvl5pPr marL="10582275" indent="-1176338" algn="l" defTabSz="4703763" rtl="0" eaLnBrk="0" fontAlgn="base" hangingPunct="0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5pPr>
      <a:lvl6pPr marL="110394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6pPr>
      <a:lvl7pPr marL="114966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7pPr>
      <a:lvl8pPr marL="119538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8pPr>
      <a:lvl9pPr marL="12411075" indent="-1176338" algn="l" defTabSz="47037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CDCDE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406F193C-8566-41B6-8625-E7C934BB073C}"/>
              </a:ext>
            </a:extLst>
          </p:cNvPr>
          <p:cNvSpPr/>
          <p:nvPr/>
        </p:nvSpPr>
        <p:spPr bwMode="auto">
          <a:xfrm>
            <a:off x="685800" y="685799"/>
            <a:ext cx="42519600" cy="6266743"/>
          </a:xfrm>
          <a:prstGeom prst="round2DiagRect">
            <a:avLst/>
          </a:prstGeom>
          <a:solidFill>
            <a:srgbClr val="4380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EE7A5C51-35F0-4B71-992D-43D344D16C04}"/>
              </a:ext>
            </a:extLst>
          </p:cNvPr>
          <p:cNvSpPr txBox="1"/>
          <p:nvPr/>
        </p:nvSpPr>
        <p:spPr>
          <a:xfrm>
            <a:off x="1371600" y="1466143"/>
            <a:ext cx="4114800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0" dirty="0" err="1"/>
              <a:t>Automatska</a:t>
            </a:r>
            <a:r>
              <a:rPr lang="en-US" sz="8000" dirty="0"/>
              <a:t> </a:t>
            </a:r>
            <a:r>
              <a:rPr lang="en-US" sz="8000" dirty="0" err="1"/>
              <a:t>detekcija</a:t>
            </a:r>
            <a:r>
              <a:rPr lang="en-US" sz="8000" dirty="0"/>
              <a:t> </a:t>
            </a:r>
            <a:r>
              <a:rPr lang="en-US" sz="8000" dirty="0" err="1"/>
              <a:t>šahovske</a:t>
            </a:r>
            <a:r>
              <a:rPr lang="en-US" sz="8000" dirty="0"/>
              <a:t> table </a:t>
            </a:r>
            <a:r>
              <a:rPr lang="en-US" sz="8000" dirty="0" err="1"/>
              <a:t>i</a:t>
            </a:r>
            <a:r>
              <a:rPr lang="en-US" sz="8000" dirty="0"/>
              <a:t> </a:t>
            </a:r>
            <a:r>
              <a:rPr lang="en-US" sz="8000" dirty="0" err="1"/>
              <a:t>pozicija</a:t>
            </a:r>
            <a:r>
              <a:rPr lang="en-US" sz="8000" dirty="0"/>
              <a:t> </a:t>
            </a:r>
            <a:r>
              <a:rPr lang="en-US" sz="8000" dirty="0" err="1"/>
              <a:t>figura</a:t>
            </a:r>
            <a:r>
              <a:rPr lang="en-US" sz="8000" dirty="0"/>
              <a:t> </a:t>
            </a:r>
            <a:r>
              <a:rPr lang="en-US" sz="8000" dirty="0" err="1"/>
              <a:t>iz</a:t>
            </a:r>
            <a:r>
              <a:rPr lang="en-US" sz="8000" dirty="0"/>
              <a:t> </a:t>
            </a:r>
            <a:r>
              <a:rPr lang="en-US" sz="8000" dirty="0" err="1"/>
              <a:t>slike</a:t>
            </a:r>
            <a:r>
              <a:rPr lang="en-US" sz="8000" dirty="0"/>
              <a:t>: </a:t>
            </a:r>
            <a:endParaRPr lang="sr-Latn-RS" sz="8000" dirty="0" smtClean="0"/>
          </a:p>
          <a:p>
            <a:pPr algn="ctr"/>
            <a:r>
              <a:rPr lang="en-US" sz="8000" dirty="0" err="1" smtClean="0"/>
              <a:t>poređenje</a:t>
            </a:r>
            <a:r>
              <a:rPr lang="en-US" sz="8000" dirty="0" smtClean="0"/>
              <a:t> </a:t>
            </a:r>
            <a:r>
              <a:rPr lang="en-US" sz="8000" dirty="0" err="1"/>
              <a:t>klasičnih</a:t>
            </a:r>
            <a:r>
              <a:rPr lang="en-US" sz="8000" dirty="0"/>
              <a:t> </a:t>
            </a:r>
            <a:r>
              <a:rPr lang="en-US" sz="8000" dirty="0" err="1"/>
              <a:t>metoda</a:t>
            </a:r>
            <a:r>
              <a:rPr lang="en-US" sz="8000" dirty="0"/>
              <a:t> </a:t>
            </a:r>
            <a:r>
              <a:rPr lang="en-US" sz="8000" dirty="0" err="1"/>
              <a:t>i</a:t>
            </a:r>
            <a:r>
              <a:rPr lang="en-US" sz="8000" dirty="0"/>
              <a:t> deep learning </a:t>
            </a:r>
            <a:r>
              <a:rPr lang="en-US" sz="8000" dirty="0" err="1"/>
              <a:t>pristupa</a:t>
            </a:r>
            <a:endParaRPr lang="en-US" sz="8500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1F3AA395-C058-4F87-B3A3-A8A8BC543EF9}"/>
              </a:ext>
            </a:extLst>
          </p:cNvPr>
          <p:cNvSpPr txBox="1"/>
          <p:nvPr/>
        </p:nvSpPr>
        <p:spPr>
          <a:xfrm>
            <a:off x="1371600" y="4451806"/>
            <a:ext cx="41148000" cy="1034594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r-Latn-RS" sz="5600" dirty="0" smtClean="0">
                <a:solidFill>
                  <a:schemeClr val="bg1"/>
                </a:solidFill>
                <a:latin typeface="Montserrat Light" panose="00000400000000000000" pitchFamily="50" charset="0"/>
              </a:rPr>
              <a:t>Jovana Vlaškalić, Anđela Pinjić, Luka Marić</a:t>
            </a:r>
          </a:p>
          <a:p>
            <a:pPr algn="ctr"/>
            <a:r>
              <a:rPr lang="sr-Latn-RS" sz="5600" dirty="0" smtClean="0">
                <a:solidFill>
                  <a:schemeClr val="bg1"/>
                </a:solidFill>
                <a:latin typeface="Montserrat Light" panose="00000400000000000000" pitchFamily="50" charset="0"/>
              </a:rPr>
              <a:t>Fakultet Tehničih nauka</a:t>
            </a:r>
            <a:endParaRPr lang="en-US" sz="5600" dirty="0">
              <a:solidFill>
                <a:schemeClr val="bg1"/>
              </a:solidFill>
              <a:latin typeface="Montserrat Light" panose="00000400000000000000" pitchFamily="50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3A929B9-4AE7-4535-8E25-5C0801DF2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874301"/>
            <a:ext cx="10058400" cy="4985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Cilj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projekta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je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razvoj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evaluacija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sistema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automatsku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lokalizaciju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šahovske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table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detekciju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/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klasifikaciju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figura</a:t>
            </a:r>
            <a:r>
              <a:rPr lang="sr-Latn-R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fotografije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Zadatak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uključuje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pronalaženje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detekciju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figura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objekata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robustan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rad u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uslovima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perspektive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senki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refleksija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zaklanjanja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00EFA-F39A-4B67-A41D-B592D129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825844"/>
            <a:ext cx="10058400" cy="873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Problem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3C57D4F6-5B1E-4A2D-8728-4DE56B722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35" y="8869031"/>
            <a:ext cx="10858815" cy="1588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32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DETEKCIJA TABLE </a:t>
            </a:r>
            <a:endParaRPr lang="sr-Latn-RS" sz="32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4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Canny + </a:t>
            </a:r>
            <a:r>
              <a:rPr lang="en-US" sz="34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konture</a:t>
            </a:r>
            <a:endParaRPr lang="sr-Latn-RS" sz="34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3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3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Brzo</a:t>
            </a:r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precizno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kada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je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obris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table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jasan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Probabilistički</a:t>
            </a:r>
            <a:r>
              <a:rPr lang="en-US" sz="34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Hough</a:t>
            </a:r>
            <a:endParaRPr lang="sr-Latn-RS" sz="34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3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3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3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Stabilno</a:t>
            </a:r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kad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se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linije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vide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slabije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kod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prekida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/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perspektive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X-corner </a:t>
            </a:r>
            <a:r>
              <a:rPr lang="en-US" sz="3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+ RANSAC + </a:t>
            </a:r>
            <a:r>
              <a:rPr lang="en-US" sz="34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homografija</a:t>
            </a:r>
            <a:endParaRPr lang="sr-Latn-RS" sz="34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sr-Latn-RS" sz="36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6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6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3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Robusno</a:t>
            </a:r>
            <a:r>
              <a:rPr lang="en-US" sz="33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</a:t>
            </a:r>
            <a:r>
              <a:rPr lang="en-US" sz="33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perspektivu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omogućava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warp/grid overlay</a:t>
            </a:r>
            <a:r>
              <a:rPr lang="en-US" sz="33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sz="33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DNN </a:t>
            </a:r>
            <a:r>
              <a:rPr lang="en-US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filter (</a:t>
            </a:r>
            <a:r>
              <a:rPr lang="en-US" sz="36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</a:t>
            </a:r>
            <a:r>
              <a:rPr lang="en-US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X-corner)</a:t>
            </a:r>
            <a:endParaRPr lang="sr-Latn-RS" sz="36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DNN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klasifikuje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patch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svaku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X-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tačku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uklanja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lažne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Manje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outlier-a 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 je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stabilnija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homografija</a:t>
            </a:r>
            <a:r>
              <a:rPr lang="en-US" sz="33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sz="33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300" u="sng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r>
              <a:rPr lang="sr-Latn-RS" sz="3200" b="1" u="sng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DETEKCIJA FIGURA</a:t>
            </a:r>
            <a:endParaRPr lang="sr-Latn-RS" sz="32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YOLO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detekciju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klasifikaciju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šahovskih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figura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izlaz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čine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bounding box-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evi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klase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figura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Treniran na 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70 epoha 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batch=16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uz početni learning rate 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lr0=0.01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momentum=0.937</a:t>
            </a:r>
            <a:r>
              <a:rPr lang="sr-Latn-R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 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weight_decay=0.0005</a:t>
            </a:r>
          </a:p>
          <a:p>
            <a:endParaRPr lang="en-US" sz="32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D4AEC4-FDA9-4DCC-AB41-6178867E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2348" y="7855618"/>
            <a:ext cx="10266051" cy="8435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600" b="1" dirty="0" err="1" smtClean="0">
                <a:solidFill>
                  <a:schemeClr val="bg1"/>
                </a:solidFill>
                <a:latin typeface="Libre Baskerville" panose="02000000000000000000" pitchFamily="2" charset="0"/>
              </a:rPr>
              <a:t>Metodlogije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C6D1DA5E-B2DC-498D-8EF9-B74BF9406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599" y="8942209"/>
            <a:ext cx="21546363" cy="6986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Eksperimenti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rađeni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379</a:t>
            </a:r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slika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ground-truth </a:t>
            </a:r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anotacijama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</a:t>
            </a:r>
            <a:r>
              <a:rPr lang="en-US" sz="32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sz="3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Metri</a:t>
            </a:r>
            <a:r>
              <a:rPr lang="sr-Cyrl-R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ке:</a:t>
            </a:r>
            <a:endParaRPr lang="sr-Cyrl-RS" sz="3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IoU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predikovani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poligon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vs GT) –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tačnost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lokalizacije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Success rate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procenat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slika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validnom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detekcijom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Vreme</a:t>
            </a:r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izvršavanja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brzina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slici</a:t>
            </a:r>
            <a:endParaRPr lang="sr-Latn-RS" sz="3200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sz="3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Tipične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greške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endParaRPr lang="en-US" sz="3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Canny: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prekid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ivica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/ slab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kontrast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→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nema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stabilne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zatvorene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konture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ili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se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uhvati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pogrešan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obris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Hough: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jaka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perspektiva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→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linije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nisu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blizu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idealnih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orijentacija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→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pogrešna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rekonstrukcija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četvorougla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Xpoints</a:t>
            </a: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/RANSAC: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nema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“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potpunog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pada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”,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se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javlja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“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klizanje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homografije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(grid ne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prati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savršeno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ivice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DNN filter: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stabilniji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Xpoints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sporiji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 rep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vremena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dolazi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od RANSAC </a:t>
            </a:r>
            <a:r>
              <a:rPr lang="en-US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iteracija</a:t>
            </a:r>
            <a:r>
              <a:rPr lang="en-US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B18890-DE76-4473-9E1E-3198CB43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5599" y="7806260"/>
            <a:ext cx="21140533" cy="922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Detekcija table - Evaluacija i diskusija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009B54-5040-4B8B-91C3-ED7FF3B1B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5599" y="16221817"/>
            <a:ext cx="13566656" cy="10215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Detekcija table </a:t>
            </a: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- Rezultati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D73BEFC1-7549-40B5-A4BD-36562574D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646729"/>
            <a:ext cx="10210800" cy="364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Rešenje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je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korisno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digitalizaciju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partija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automatsku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analizu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edukativne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“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smart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šahovske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aplikacije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sr-Latn-R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Onlajn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igranja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AI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alata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igranje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protiv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botova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automatska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analiza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partija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platformama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poput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Chess.com)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doprineo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je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ponovnoj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popularizaciji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šaha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uz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zabeležene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skokove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aktivnosti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tokom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2020.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ponovo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početkom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2023.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3C6F59-1B0C-4EDA-8518-F88FAC8AF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569112"/>
            <a:ext cx="10058400" cy="873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Motivacija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D8586159-F4C4-4390-B155-F7761D66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97809" y="17583990"/>
            <a:ext cx="6723704" cy="5601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Najprecizniji</a:t>
            </a:r>
            <a:r>
              <a:rPr lang="en-US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najbrži</a:t>
            </a:r>
            <a:r>
              <a:rPr lang="en-US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Canny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visok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+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najkraće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vreme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Najrobusniji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Xpoints</a:t>
            </a:r>
            <a:r>
              <a:rPr lang="en-US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/RANSAC</a:t>
            </a:r>
            <a:r>
              <a:rPr lang="sr-Latn-R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</a:t>
            </a:r>
            <a:endParaRPr lang="sr-Latn-R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sporiji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umerenim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IoU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Najbolji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kompromis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stabilnosti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Xpoints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-a: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DNN </a:t>
            </a:r>
            <a:r>
              <a:rPr lang="en-US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filtriranje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endParaRPr lang="sr-Latn-R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bolji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od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čistog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Xpoints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vrlo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konzistentna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homografija</a:t>
            </a:r>
            <a:r>
              <a:rPr lang="sr-Latn-R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uz</a:t>
            </a:r>
            <a:r>
              <a:rPr lang="en-US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veću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cenu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vremena</a:t>
            </a:r>
            <a:endParaRPr lang="sr-Latn-RS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59AB0E-37A8-4432-8FCF-494C05933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97809" y="16255182"/>
            <a:ext cx="6703563" cy="9974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Zaključak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pic>
        <p:nvPicPr>
          <p:cNvPr id="1026" name="Picture 2" descr="https://images.chesscomfiles.com/uploads/v1/images_users/tiny_mce/Leon_Watson/phptanlV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2" t="21651" r="3303" b="9402"/>
          <a:stretch/>
        </p:blipFill>
        <p:spPr bwMode="auto">
          <a:xfrm>
            <a:off x="533400" y="18293858"/>
            <a:ext cx="10058400" cy="488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3807" r="4882" b="4853"/>
          <a:stretch/>
        </p:blipFill>
        <p:spPr>
          <a:xfrm>
            <a:off x="36397809" y="22944066"/>
            <a:ext cx="6155015" cy="41514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4549" t="6770"/>
          <a:stretch/>
        </p:blipFill>
        <p:spPr>
          <a:xfrm>
            <a:off x="21904326" y="18121259"/>
            <a:ext cx="6534022" cy="47233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4629" t="6770"/>
          <a:stretch/>
        </p:blipFill>
        <p:spPr>
          <a:xfrm>
            <a:off x="28768623" y="18123805"/>
            <a:ext cx="6664061" cy="47410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/>
          <a:srcRect l="3889" t="6776"/>
          <a:stretch/>
        </p:blipFill>
        <p:spPr>
          <a:xfrm>
            <a:off x="21904326" y="23722482"/>
            <a:ext cx="6637058" cy="46852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/>
          <a:srcRect l="4526" t="6603"/>
          <a:stretch/>
        </p:blipFill>
        <p:spPr>
          <a:xfrm>
            <a:off x="29092158" y="23814223"/>
            <a:ext cx="6571301" cy="475763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5009B54-5040-4B8B-91C3-ED7FF3B1B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89" y="30708879"/>
            <a:ext cx="35311439" cy="1582882"/>
          </a:xfrm>
          <a:prstGeom prst="rect">
            <a:avLst/>
          </a:prstGeom>
          <a:solidFill>
            <a:srgbClr val="438086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457200"/>
            <a:ext cx="438912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7204"/>
              </p:ext>
            </p:extLst>
          </p:nvPr>
        </p:nvGraphicFramePr>
        <p:xfrm>
          <a:off x="33680400" y="9235311"/>
          <a:ext cx="9425873" cy="4178465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525224">
                  <a:extLst>
                    <a:ext uri="{9D8B030D-6E8A-4147-A177-3AD203B41FA5}">
                      <a16:colId xmlns:a16="http://schemas.microsoft.com/office/drawing/2014/main" val="3985642968"/>
                    </a:ext>
                  </a:extLst>
                </a:gridCol>
                <a:gridCol w="1482629">
                  <a:extLst>
                    <a:ext uri="{9D8B030D-6E8A-4147-A177-3AD203B41FA5}">
                      <a16:colId xmlns:a16="http://schemas.microsoft.com/office/drawing/2014/main" val="207062203"/>
                    </a:ext>
                  </a:extLst>
                </a:gridCol>
                <a:gridCol w="1783347">
                  <a:extLst>
                    <a:ext uri="{9D8B030D-6E8A-4147-A177-3AD203B41FA5}">
                      <a16:colId xmlns:a16="http://schemas.microsoft.com/office/drawing/2014/main" val="3565799049"/>
                    </a:ext>
                  </a:extLst>
                </a:gridCol>
                <a:gridCol w="1871560">
                  <a:extLst>
                    <a:ext uri="{9D8B030D-6E8A-4147-A177-3AD203B41FA5}">
                      <a16:colId xmlns:a16="http://schemas.microsoft.com/office/drawing/2014/main" val="3564931040"/>
                    </a:ext>
                  </a:extLst>
                </a:gridCol>
                <a:gridCol w="1763113">
                  <a:extLst>
                    <a:ext uri="{9D8B030D-6E8A-4147-A177-3AD203B41FA5}">
                      <a16:colId xmlns:a16="http://schemas.microsoft.com/office/drawing/2014/main" val="1816844714"/>
                    </a:ext>
                  </a:extLst>
                </a:gridCol>
              </a:tblGrid>
              <a:tr h="1004051">
                <a:tc>
                  <a:txBody>
                    <a:bodyPr/>
                    <a:lstStyle/>
                    <a:p>
                      <a:r>
                        <a:rPr lang="sr-Latn-RS" sz="2800" dirty="0" smtClean="0"/>
                        <a:t>Metoda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Mean </a:t>
                      </a:r>
                      <a:r>
                        <a:rPr lang="sr-Latn-RS" sz="2800" dirty="0" smtClean="0"/>
                        <a:t> IoU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Median </a:t>
                      </a:r>
                      <a:r>
                        <a:rPr lang="en-US" sz="2800" dirty="0" err="1" smtClean="0"/>
                        <a:t>IoU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Success rate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Vreme po slici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69190"/>
                  </a:ext>
                </a:extLst>
              </a:tr>
              <a:tr h="674874">
                <a:tc>
                  <a:txBody>
                    <a:bodyPr/>
                    <a:lstStyle/>
                    <a:p>
                      <a:r>
                        <a:rPr lang="sr-Latn-RS" sz="2800" dirty="0" smtClean="0"/>
                        <a:t>Canny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0.872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0.989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90.3%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72.6 </a:t>
                      </a:r>
                      <a:r>
                        <a:rPr lang="en-US" sz="2800" dirty="0" err="1" smtClean="0"/>
                        <a:t>ms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578001"/>
                  </a:ext>
                </a:extLst>
              </a:tr>
              <a:tr h="550609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Hough 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0.783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0.845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97.3%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385 </a:t>
                      </a:r>
                      <a:r>
                        <a:rPr lang="en-US" sz="2800" dirty="0" err="1" smtClean="0"/>
                        <a:t>ms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014939"/>
                  </a:ext>
                </a:extLst>
              </a:tr>
              <a:tr h="888568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Xpoints</a:t>
                      </a:r>
                      <a:r>
                        <a:rPr lang="en-US" sz="2800" dirty="0" smtClean="0"/>
                        <a:t>/</a:t>
                      </a:r>
                      <a:endParaRPr lang="sr-Latn-RS" sz="2800" dirty="0" smtClean="0"/>
                    </a:p>
                    <a:p>
                      <a:r>
                        <a:rPr lang="en-US" sz="2800" dirty="0" smtClean="0"/>
                        <a:t>RANSAC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0.773</a:t>
                      </a:r>
                    </a:p>
                    <a:p>
                      <a:pPr algn="l"/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0.773</a:t>
                      </a:r>
                    </a:p>
                    <a:p>
                      <a:pPr algn="l"/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sr-Latn-RS" sz="2800" dirty="0" smtClean="0"/>
                        <a:t>100</a:t>
                      </a:r>
                      <a:r>
                        <a:rPr lang="en-US" sz="2800" dirty="0" smtClean="0"/>
                        <a:t>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1.23 s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382079"/>
                  </a:ext>
                </a:extLst>
              </a:tr>
              <a:tr h="1004051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DNN-filtered </a:t>
                      </a:r>
                      <a:r>
                        <a:rPr lang="en-US" sz="2800" dirty="0" err="1" smtClean="0"/>
                        <a:t>Xpoints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0.836</a:t>
                      </a:r>
                    </a:p>
                    <a:p>
                      <a:pPr algn="l"/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0.836</a:t>
                      </a:r>
                    </a:p>
                    <a:p>
                      <a:pPr algn="l"/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sr-Latn-RS" sz="2800" dirty="0" smtClean="0"/>
                        <a:t>95%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~840 </a:t>
                      </a:r>
                      <a:r>
                        <a:rPr lang="en-US" sz="2800" dirty="0" err="1"/>
                        <a:t>ms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188612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4667" y="26832868"/>
            <a:ext cx="4831886" cy="3458374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2024668" y="29306535"/>
            <a:ext cx="1331035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Praktična</a:t>
            </a:r>
            <a:r>
              <a:rPr lang="en-US" sz="36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preporuka</a:t>
            </a:r>
            <a:r>
              <a:rPr lang="en-US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r>
              <a:rPr lang="sr-Latn-R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koristiti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Canny-first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6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</a:t>
            </a:r>
            <a:r>
              <a:rPr lang="en-US" sz="36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Xpoints</a:t>
            </a:r>
            <a:r>
              <a:rPr lang="en-US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/DNN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dirty="0" err="1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kao</a:t>
            </a:r>
            <a:r>
              <a:rPr lang="en-US" sz="36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fallback u </a:t>
            </a:r>
            <a:r>
              <a:rPr lang="en-US" sz="36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teškim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6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scenama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</a:t>
            </a:r>
            <a:r>
              <a:rPr lang="en-US" sz="36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perspektiva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6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senke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6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refleksije</a:t>
            </a: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).</a:t>
            </a:r>
          </a:p>
          <a:p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89710" y="27831548"/>
            <a:ext cx="6896422" cy="449069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4416445" y="17430604"/>
            <a:ext cx="20236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smtClean="0"/>
              <a:t>CNN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31088843" y="17429792"/>
            <a:ext cx="20236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smtClean="0"/>
              <a:t>Canny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24319888" y="23008291"/>
            <a:ext cx="20236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smtClean="0"/>
              <a:t>Hough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30092253" y="23008291"/>
            <a:ext cx="52530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smtClean="0"/>
              <a:t>Xpoints/RANSAC</a:t>
            </a:r>
            <a:endParaRPr lang="en-US" b="1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3C6F59-1B0C-4EDA-8518-F88FAC8AF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3689158"/>
            <a:ext cx="10058400" cy="8733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Detekcija </a:t>
            </a: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figura </a:t>
            </a:r>
            <a:r>
              <a:rPr lang="sr-Latn-RS" sz="36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- Evaluacija i diskusija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84088" y="23257864"/>
            <a:ext cx="8355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Google Trends - Search Interest for </a:t>
            </a:r>
            <a:r>
              <a:rPr lang="en-US" sz="1400" dirty="0" smtClean="0"/>
              <a:t>Terms "</a:t>
            </a:r>
            <a:r>
              <a:rPr lang="en-US" sz="1400" dirty="0"/>
              <a:t>Chess", "Formula 1", "Poker", </a:t>
            </a:r>
            <a:r>
              <a:rPr lang="en-US" sz="1400" dirty="0" smtClean="0"/>
              <a:t>"</a:t>
            </a:r>
            <a:r>
              <a:rPr lang="en-US" sz="1400" dirty="0"/>
              <a:t>League of </a:t>
            </a:r>
            <a:r>
              <a:rPr lang="en-US" sz="1400" dirty="0" smtClean="0"/>
              <a:t>Legends</a:t>
            </a:r>
            <a:r>
              <a:rPr lang="sr-Latn-RS" sz="1400" dirty="0" smtClean="0"/>
              <a:t>“</a:t>
            </a:r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11143987" y="24779022"/>
            <a:ext cx="102978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sz="3600" dirty="0"/>
              <a:t>M</a:t>
            </a:r>
            <a:r>
              <a:rPr lang="en-US" sz="3600" dirty="0" err="1" smtClean="0"/>
              <a:t>odel</a:t>
            </a:r>
            <a:r>
              <a:rPr lang="en-US" sz="3600" dirty="0" smtClean="0"/>
              <a:t> </a:t>
            </a:r>
            <a:r>
              <a:rPr lang="en-US" sz="3600" dirty="0" err="1"/>
              <a:t>pouzdano</a:t>
            </a:r>
            <a:r>
              <a:rPr lang="en-US" sz="3600" dirty="0"/>
              <a:t> </a:t>
            </a:r>
            <a:r>
              <a:rPr lang="en-US" sz="3600" dirty="0" err="1"/>
              <a:t>pronalazi</a:t>
            </a:r>
            <a:r>
              <a:rPr lang="en-US" sz="3600" dirty="0"/>
              <a:t> figure </a:t>
            </a:r>
            <a:r>
              <a:rPr lang="en-US" sz="3600" dirty="0" err="1"/>
              <a:t>i</a:t>
            </a:r>
            <a:r>
              <a:rPr lang="en-US" sz="3600" dirty="0"/>
              <a:t> </a:t>
            </a:r>
            <a:r>
              <a:rPr lang="en-US" sz="3600" dirty="0" err="1"/>
              <a:t>ispravno</a:t>
            </a:r>
            <a:r>
              <a:rPr lang="en-US" sz="3600" dirty="0"/>
              <a:t> </a:t>
            </a:r>
            <a:r>
              <a:rPr lang="en-US" sz="3600" dirty="0" err="1"/>
              <a:t>ih</a:t>
            </a:r>
            <a:r>
              <a:rPr lang="en-US" sz="3600" dirty="0"/>
              <a:t> </a:t>
            </a:r>
            <a:r>
              <a:rPr lang="en-US" sz="3600" dirty="0" err="1" smtClean="0"/>
              <a:t>klasifikuje</a:t>
            </a:r>
            <a:r>
              <a:rPr lang="en-US" sz="3600" dirty="0" smtClean="0"/>
              <a:t>,</a:t>
            </a:r>
            <a:r>
              <a:rPr lang="sr-Latn-RS" sz="3600" dirty="0" smtClean="0"/>
              <a:t> dok </a:t>
            </a:r>
            <a:r>
              <a:rPr lang="en-US" sz="3600" dirty="0" err="1" smtClean="0"/>
              <a:t>pri</a:t>
            </a:r>
            <a:r>
              <a:rPr lang="en-US" sz="3600" dirty="0" smtClean="0"/>
              <a:t> </a:t>
            </a:r>
            <a:r>
              <a:rPr lang="en-US" sz="3600" dirty="0" err="1"/>
              <a:t>strožim</a:t>
            </a:r>
            <a:r>
              <a:rPr lang="en-US" sz="3600" dirty="0"/>
              <a:t> </a:t>
            </a:r>
            <a:r>
              <a:rPr lang="en-US" sz="3600" dirty="0" err="1"/>
              <a:t>IoU</a:t>
            </a:r>
            <a:r>
              <a:rPr lang="en-US" sz="3600" dirty="0"/>
              <a:t> </a:t>
            </a:r>
            <a:r>
              <a:rPr lang="en-US" sz="3600" dirty="0" err="1"/>
              <a:t>pragovima</a:t>
            </a:r>
            <a:r>
              <a:rPr lang="en-US" sz="3600" dirty="0"/>
              <a:t> </a:t>
            </a:r>
            <a:r>
              <a:rPr lang="en-US" sz="3600" dirty="0" err="1"/>
              <a:t>lokalizacija</a:t>
            </a:r>
            <a:r>
              <a:rPr lang="en-US" sz="3600" dirty="0"/>
              <a:t> </a:t>
            </a:r>
            <a:r>
              <a:rPr lang="en-US" sz="3600" dirty="0" err="1"/>
              <a:t>ponekad</a:t>
            </a:r>
            <a:r>
              <a:rPr lang="en-US" sz="3600" dirty="0"/>
              <a:t> </a:t>
            </a:r>
            <a:r>
              <a:rPr lang="en-US" sz="3600" dirty="0" err="1"/>
              <a:t>manje</a:t>
            </a:r>
            <a:r>
              <a:rPr lang="en-US" sz="3600" dirty="0"/>
              <a:t> </a:t>
            </a:r>
            <a:r>
              <a:rPr lang="en-US" sz="3600" dirty="0" err="1" smtClean="0"/>
              <a:t>precizna</a:t>
            </a:r>
            <a:endParaRPr lang="en-US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3C6F59-1B0C-4EDA-8518-F88FAC8AF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2390" y="23722482"/>
            <a:ext cx="10266051" cy="8479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sr-Latn-RS" sz="36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Detekcija </a:t>
            </a: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figura </a:t>
            </a:r>
            <a:r>
              <a:rPr lang="sr-Latn-RS" sz="36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- </a:t>
            </a:r>
            <a:r>
              <a:rPr lang="sr-Latn-RS" sz="3600" b="1" dirty="0" smtClean="0">
                <a:solidFill>
                  <a:schemeClr val="bg1"/>
                </a:solidFill>
                <a:latin typeface="Libre Baskerville" panose="02000000000000000000" pitchFamily="2" charset="0"/>
              </a:rPr>
              <a:t>Rezultati</a:t>
            </a:r>
            <a:endParaRPr lang="en-US" sz="36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405574"/>
              </p:ext>
            </p:extLst>
          </p:nvPr>
        </p:nvGraphicFramePr>
        <p:xfrm>
          <a:off x="533402" y="28701554"/>
          <a:ext cx="10058399" cy="1497533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414330">
                  <a:extLst>
                    <a:ext uri="{9D8B030D-6E8A-4147-A177-3AD203B41FA5}">
                      <a16:colId xmlns:a16="http://schemas.microsoft.com/office/drawing/2014/main" val="3985642968"/>
                    </a:ext>
                  </a:extLst>
                </a:gridCol>
                <a:gridCol w="1964346">
                  <a:extLst>
                    <a:ext uri="{9D8B030D-6E8A-4147-A177-3AD203B41FA5}">
                      <a16:colId xmlns:a16="http://schemas.microsoft.com/office/drawing/2014/main" val="3565799049"/>
                    </a:ext>
                  </a:extLst>
                </a:gridCol>
                <a:gridCol w="1650051">
                  <a:extLst>
                    <a:ext uri="{9D8B030D-6E8A-4147-A177-3AD203B41FA5}">
                      <a16:colId xmlns:a16="http://schemas.microsoft.com/office/drawing/2014/main" val="3564931040"/>
                    </a:ext>
                  </a:extLst>
                </a:gridCol>
                <a:gridCol w="2271247">
                  <a:extLst>
                    <a:ext uri="{9D8B030D-6E8A-4147-A177-3AD203B41FA5}">
                      <a16:colId xmlns:a16="http://schemas.microsoft.com/office/drawing/2014/main" val="1816844714"/>
                    </a:ext>
                  </a:extLst>
                </a:gridCol>
                <a:gridCol w="2758425">
                  <a:extLst>
                    <a:ext uri="{9D8B030D-6E8A-4147-A177-3AD203B41FA5}">
                      <a16:colId xmlns:a16="http://schemas.microsoft.com/office/drawing/2014/main" val="4277684694"/>
                    </a:ext>
                  </a:extLst>
                </a:gridCol>
              </a:tblGrid>
              <a:tr h="967157">
                <a:tc>
                  <a:txBody>
                    <a:bodyPr/>
                    <a:lstStyle/>
                    <a:p>
                      <a:r>
                        <a:rPr lang="sr-Latn-RS" sz="2800" dirty="0" smtClean="0"/>
                        <a:t>Split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Precision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Recall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mAP@50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sz="2800" dirty="0" smtClean="0"/>
                        <a:t>mAP@50-95</a:t>
                      </a:r>
                      <a:endParaRPr lang="en-US" sz="2800" dirty="0" smtClean="0"/>
                    </a:p>
                    <a:p>
                      <a:pPr algn="ctr"/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69190"/>
                  </a:ext>
                </a:extLst>
              </a:tr>
              <a:tr h="530376">
                <a:tc>
                  <a:txBody>
                    <a:bodyPr/>
                    <a:lstStyle/>
                    <a:p>
                      <a:r>
                        <a:rPr lang="sr-Latn-RS" sz="2800" dirty="0" smtClean="0"/>
                        <a:t>Test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97.5%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97.6%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98.2%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800" dirty="0" smtClean="0"/>
                        <a:t>81.3%</a:t>
                      </a:r>
                      <a:endParaRPr lang="en-US" sz="28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014939"/>
                  </a:ext>
                </a:extLst>
              </a:tr>
            </a:tbl>
          </a:graphicData>
        </a:graphic>
      </p:graphicFrame>
      <p:pic>
        <p:nvPicPr>
          <p:cNvPr id="56" name="Picture 5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92534" y="26832868"/>
            <a:ext cx="4677442" cy="3458374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489175" y="24660490"/>
            <a:ext cx="1015924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YOLO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predviđa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bbox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klasu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confidence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svaku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figuru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Predikcije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se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uparuju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GT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anotacijama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preko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detekcija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je TP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ako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je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klasa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tačna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IoU</a:t>
            </a:r>
            <a:r>
              <a:rPr lang="en-US" sz="33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≥ 0.50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(mAP@50),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dok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se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preostali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slučajevi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računaju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kao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FP/FN. Na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osnovu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toga se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računaju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Precision/Recall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a </a:t>
            </a:r>
            <a:r>
              <a:rPr lang="en-US" sz="33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mAP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sumira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performanse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kroz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različite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confidence </a:t>
            </a:r>
            <a:r>
              <a:rPr lang="en-US" sz="33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pragove</a:t>
            </a:r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11337297" y="10157954"/>
            <a:ext cx="2209800" cy="593943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IVICE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14269021" y="10160008"/>
            <a:ext cx="2477257" cy="593942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KONTURE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17487899" y="9927441"/>
            <a:ext cx="3828435" cy="824456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28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NAJBOLJI</a:t>
            </a:r>
            <a:r>
              <a:rPr lang="sr-Latn-RS" sz="2800" b="1" dirty="0" smtClean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ČETVOROUGAO</a:t>
            </a:r>
            <a:endParaRPr lang="sr-Latn-RS" sz="28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11337297" y="12798882"/>
            <a:ext cx="2215678" cy="584221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LINIJE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14062175" y="12654745"/>
            <a:ext cx="3756888" cy="886357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4703763"/>
            <a:r>
              <a:rPr lang="sr-Latn-RS" sz="28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 OTROGONALNE GRUPE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18151429" y="12654745"/>
            <a:ext cx="3164905" cy="891828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28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KANDIDAT</a:t>
            </a:r>
            <a:r>
              <a:rPr lang="sr-Latn-RS" sz="2800" dirty="0" smtClean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sr-Latn-RS" sz="2800" b="1" dirty="0" smtClean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ČETVOROUGLA</a:t>
            </a:r>
            <a:endParaRPr lang="sr-Latn-RS" sz="2800" b="1" dirty="0" smtClean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11174667" y="16191090"/>
            <a:ext cx="2772704" cy="1140217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UNUTRAŠNJI PRESECI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14636607" y="16244980"/>
            <a:ext cx="2332504" cy="1097803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4703763"/>
            <a:r>
              <a:rPr lang="en-U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RANSAC</a:t>
            </a: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INLINERI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17624908" y="16450276"/>
            <a:ext cx="3667987" cy="609569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r-Latn-RS" sz="32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HOMOGRAFIJA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0" name="Right Arrow 59"/>
          <p:cNvSpPr/>
          <p:nvPr/>
        </p:nvSpPr>
        <p:spPr bwMode="auto">
          <a:xfrm>
            <a:off x="13547097" y="10221521"/>
            <a:ext cx="762000" cy="56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Right Arrow 70"/>
          <p:cNvSpPr/>
          <p:nvPr/>
        </p:nvSpPr>
        <p:spPr bwMode="auto">
          <a:xfrm>
            <a:off x="16748441" y="10187265"/>
            <a:ext cx="762000" cy="56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Right Arrow 71"/>
          <p:cNvSpPr/>
          <p:nvPr/>
        </p:nvSpPr>
        <p:spPr bwMode="auto">
          <a:xfrm>
            <a:off x="13501740" y="12833783"/>
            <a:ext cx="762000" cy="56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3" name="Right Arrow 72"/>
          <p:cNvSpPr/>
          <p:nvPr/>
        </p:nvSpPr>
        <p:spPr bwMode="auto">
          <a:xfrm>
            <a:off x="17756311" y="12833783"/>
            <a:ext cx="762000" cy="56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Right Arrow 73"/>
          <p:cNvSpPr/>
          <p:nvPr/>
        </p:nvSpPr>
        <p:spPr bwMode="auto">
          <a:xfrm>
            <a:off x="13888021" y="16450277"/>
            <a:ext cx="762000" cy="56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Right Arrow 74"/>
          <p:cNvSpPr/>
          <p:nvPr/>
        </p:nvSpPr>
        <p:spPr bwMode="auto">
          <a:xfrm>
            <a:off x="16977105" y="16511565"/>
            <a:ext cx="762000" cy="56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intellectualsage|08-2022"/>
</p:tagLst>
</file>

<file path=ppt/theme/theme1.xml><?xml version="1.0" encoding="utf-8"?>
<a:theme xmlns:a="http://schemas.openxmlformats.org/drawingml/2006/main" name="Default Desig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591</Words>
  <Application>Microsoft Office PowerPoint</Application>
  <PresentationFormat>Custom</PresentationFormat>
  <Paragraphs>119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Montserrat Light</vt:lpstr>
      <vt:lpstr>Sans Serif Collection</vt:lpstr>
      <vt:lpstr>Libre Baskerville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Andjela</cp:lastModifiedBy>
  <cp:revision>60</cp:revision>
  <dcterms:modified xsi:type="dcterms:W3CDTF">2026-02-26T22:13:30Z</dcterms:modified>
  <cp:category>templates for scientific poster</cp:category>
</cp:coreProperties>
</file>