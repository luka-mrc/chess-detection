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</p:sldIdLst>
  <p:sldSz cx="43891200" cy="32918400"/>
  <p:notesSz cx="6858000" cy="9144000"/>
  <p:embeddedFontLst>
    <p:embeddedFont>
      <p:font typeface="Libre Baskerville" panose="020B0604020202020204" charset="0"/>
      <p:bold r:id="rId3"/>
    </p:embeddedFont>
    <p:embeddedFont>
      <p:font typeface="Montserrat Light" panose="020B0604020202020204" charset="0"/>
      <p:regular r:id="rId4"/>
    </p:embeddedFont>
    <p:embeddedFont>
      <p:font typeface="Sans Serif Collection" panose="020B0502040504020204" pitchFamily="34" charset="0"/>
      <p:regular r:id="rId5"/>
    </p:embeddedFont>
  </p:embeddedFontLst>
  <p:custDataLst>
    <p:tags r:id="rId6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3800" kern="1200">
        <a:solidFill>
          <a:schemeClr val="tx1"/>
        </a:solidFill>
        <a:latin typeface="Arial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3800" kern="1200">
        <a:solidFill>
          <a:schemeClr val="tx1"/>
        </a:solidFill>
        <a:latin typeface="Arial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3800" kern="1200">
        <a:solidFill>
          <a:schemeClr val="tx1"/>
        </a:solidFill>
        <a:latin typeface="Arial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3800" kern="1200">
        <a:solidFill>
          <a:schemeClr val="tx1"/>
        </a:solidFill>
        <a:latin typeface="Arial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3800" kern="1200">
        <a:solidFill>
          <a:schemeClr val="tx1"/>
        </a:solidFill>
        <a:latin typeface="Arial"/>
        <a:ea typeface="+mn-ea"/>
        <a:cs typeface="+mn-cs"/>
      </a:defRPr>
    </a:lvl5pPr>
    <a:lvl6pPr marL="2286000" algn="l" defTabSz="914400" rtl="0" eaLnBrk="1" latinLnBrk="0" hangingPunct="1">
      <a:defRPr sz="3800" kern="1200">
        <a:solidFill>
          <a:schemeClr val="tx1"/>
        </a:solidFill>
        <a:latin typeface="Arial"/>
        <a:ea typeface="+mn-ea"/>
        <a:cs typeface="+mn-cs"/>
      </a:defRPr>
    </a:lvl6pPr>
    <a:lvl7pPr marL="2743200" algn="l" defTabSz="914400" rtl="0" eaLnBrk="1" latinLnBrk="0" hangingPunct="1">
      <a:defRPr sz="3800" kern="1200">
        <a:solidFill>
          <a:schemeClr val="tx1"/>
        </a:solidFill>
        <a:latin typeface="Arial"/>
        <a:ea typeface="+mn-ea"/>
        <a:cs typeface="+mn-cs"/>
      </a:defRPr>
    </a:lvl7pPr>
    <a:lvl8pPr marL="3200400" algn="l" defTabSz="914400" rtl="0" eaLnBrk="1" latinLnBrk="0" hangingPunct="1">
      <a:defRPr sz="3800" kern="1200">
        <a:solidFill>
          <a:schemeClr val="tx1"/>
        </a:solidFill>
        <a:latin typeface="Arial"/>
        <a:ea typeface="+mn-ea"/>
        <a:cs typeface="+mn-cs"/>
      </a:defRPr>
    </a:lvl8pPr>
    <a:lvl9pPr marL="3657600" algn="l" defTabSz="914400" rtl="0" eaLnBrk="1" latinLnBrk="0" hangingPunct="1">
      <a:defRPr sz="3800" kern="1200">
        <a:solidFill>
          <a:schemeClr val="tx1"/>
        </a:solidFill>
        <a:latin typeface="Arial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368">
          <p15:clr>
            <a:srgbClr val="A4A3A4"/>
          </p15:clr>
        </p15:guide>
        <p15:guide id="2" pos="1382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80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{1BD7E111-0CB8-44D6-8891-C1BB2F81B7CC}">
      <p1710:readonlyRecommended xmlns:p1710="http://schemas.microsoft.com/office/powerpoint/2017/10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047" autoAdjust="0"/>
    <p:restoredTop sz="94660"/>
  </p:normalViewPr>
  <p:slideViewPr>
    <p:cSldViewPr>
      <p:cViewPr varScale="1">
        <p:scale>
          <a:sx n="20" d="100"/>
          <a:sy n="20" d="100"/>
        </p:scale>
        <p:origin x="845" y="-163"/>
      </p:cViewPr>
      <p:guideLst>
        <p:guide orient="horz" pos="10368"/>
        <p:guide pos="13824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font" Target="fonts/font1.fntdata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gs" Target="tags/tag1.xml"/><Relationship Id="rId5" Type="http://schemas.openxmlformats.org/officeDocument/2006/relationships/font" Target="fonts/font3.fntdata"/><Relationship Id="rId10" Type="http://schemas.openxmlformats.org/officeDocument/2006/relationships/tableStyles" Target="tableStyles.xml"/><Relationship Id="rId4" Type="http://schemas.openxmlformats.org/officeDocument/2006/relationships/font" Target="fonts/font2.fntdata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2475" y="10226675"/>
            <a:ext cx="37306250" cy="7054850"/>
          </a:xfrm>
        </p:spPr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583363" y="18653125"/>
            <a:ext cx="30724475" cy="8413750"/>
          </a:xfrm>
        </p:spPr>
        <p:txBody>
          <a:bodyPr/>
          <a:lstStyle>
            <a:defPPr>
              <a:defRPr kern="1200"/>
            </a:defPPr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08DF5FCE-FDEA-4465-BCF6-C7F63911A9A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061706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A43242BF-F4C0-49CF-80EA-38D6C064D58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298433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7100" y="21153438"/>
            <a:ext cx="37307838" cy="6537325"/>
          </a:xfrm>
        </p:spPr>
        <p:txBody>
          <a:bodyPr anchor="t"/>
          <a:lstStyle>
            <a:defPPr>
              <a:defRPr kern="1200"/>
            </a:defPPr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67100" y="13952538"/>
            <a:ext cx="37307838" cy="7200900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029423EF-61E0-492B-A58A-8462960B8BF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272079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93925" y="7680325"/>
            <a:ext cx="19675475" cy="21726525"/>
          </a:xfrm>
        </p:spPr>
        <p:txBody>
          <a:bodyPr/>
          <a:lstStyle>
            <a:defPPr>
              <a:defRPr kern="1200"/>
            </a:defPPr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021800" y="7680325"/>
            <a:ext cx="19675475" cy="21726525"/>
          </a:xfrm>
        </p:spPr>
        <p:txBody>
          <a:bodyPr/>
          <a:lstStyle>
            <a:defPPr>
              <a:defRPr kern="1200"/>
            </a:defPPr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80F45B66-FD4B-43D3-97DD-29BBADAFE8F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354412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93925" y="7369175"/>
            <a:ext cx="19392900" cy="3070225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93925" y="10439400"/>
            <a:ext cx="19392900" cy="18965862"/>
          </a:xfrm>
        </p:spPr>
        <p:txBody>
          <a:bodyPr/>
          <a:lstStyle>
            <a:defPPr>
              <a:defRPr kern="1200"/>
            </a:defPPr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96438" y="7369175"/>
            <a:ext cx="19400838" cy="3070225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96438" y="10439400"/>
            <a:ext cx="19400838" cy="18965862"/>
          </a:xfrm>
        </p:spPr>
        <p:txBody>
          <a:bodyPr/>
          <a:lstStyle>
            <a:defPPr>
              <a:defRPr kern="1200"/>
            </a:defPPr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134DC469-4A79-40F8-9FD1-29BC04AA701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368222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E77ED9D9-385C-4EF3-825C-DD7EC451E09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404928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6D843B82-F4E2-4569-B1E8-B9E053E8F45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652082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93925" y="1311275"/>
            <a:ext cx="14439900" cy="5576888"/>
          </a:xfrm>
        </p:spPr>
        <p:txBody>
          <a:bodyPr anchor="b"/>
          <a:lstStyle>
            <a:defPPr>
              <a:defRPr kern="1200"/>
            </a:defPPr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160875" y="1311275"/>
            <a:ext cx="24536400" cy="28093988"/>
          </a:xfrm>
        </p:spPr>
        <p:txBody>
          <a:bodyPr/>
          <a:lstStyle>
            <a:defPPr>
              <a:defRPr kern="1200"/>
            </a:defPPr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93925" y="6888163"/>
            <a:ext cx="14439900" cy="22517100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63D2E94D-57D8-45DE-BBE8-59CBB7A5E38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465927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02663" y="23042562"/>
            <a:ext cx="26335038" cy="2720975"/>
          </a:xfrm>
        </p:spPr>
        <p:txBody>
          <a:bodyPr anchor="b"/>
          <a:lstStyle>
            <a:defPPr>
              <a:defRPr kern="1200"/>
            </a:defPPr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8602663" y="2941638"/>
            <a:ext cx="26335038" cy="19750088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02663" y="25763538"/>
            <a:ext cx="26335038" cy="3862387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01FD068A-1390-4726-BE45-AB18C473BC6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488954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AE3CA81D-4204-48B1-A4D7-36EFD127B2F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550941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821438" y="1317625"/>
            <a:ext cx="9875837" cy="28089225"/>
          </a:xfrm>
        </p:spPr>
        <p:txBody>
          <a:bodyPr vert="eaVert"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93925" y="1317625"/>
            <a:ext cx="29475112" cy="28089225"/>
          </a:xfrm>
        </p:spPr>
        <p:txBody>
          <a:bodyPr vert="eaVert"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B1D08C6D-384C-4677-A8CE-0D580832C4A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049771"/>
      </p:ext>
    </p:extLst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93925" y="1317625"/>
            <a:ext cx="39503350" cy="5486400"/>
          </a:xfrm>
        </p:spPr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193925" y="7680325"/>
            <a:ext cx="19675475" cy="21726525"/>
          </a:xfrm>
        </p:spPr>
        <p:txBody>
          <a:bodyPr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021800" y="7680325"/>
            <a:ext cx="19675475" cy="21726525"/>
          </a:xfrm>
        </p:spPr>
        <p:txBody>
          <a:bodyPr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B947A3F5-B070-47AF-A223-F33332FE8B8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619651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93925" y="1317625"/>
            <a:ext cx="39503350" cy="548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470254" tIns="235127" rIns="470254" bIns="235127" anchor="ctr" anchorCtr="0" compatLnSpc="1">
            <a:prstTxWarp prst="textNoShape">
              <a:avLst/>
            </a:prstTxWarp>
          </a:bodyPr>
          <a:lstStyle>
            <a:defPPr>
              <a:defRPr kern="1200"/>
            </a:def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93925" y="7680325"/>
            <a:ext cx="39503350" cy="2172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470254" tIns="235127" rIns="470254" bIns="235127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2193925" y="29978350"/>
            <a:ext cx="10242550" cy="2286000"/>
          </a:xfrm>
          <a:prstGeom prst="rect">
            <a:avLst/>
          </a:prstGeom>
          <a:noFill/>
          <a:ln>
            <a:noFill/>
          </a:ln>
          <a:extLst/>
        </p:spPr>
        <p:txBody>
          <a:bodyPr vert="horz" wrap="square" lIns="470254" tIns="235127" rIns="470254" bIns="235127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>
              <a:defRPr sz="7100" smtClean="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4995525" y="29978350"/>
            <a:ext cx="13900150" cy="2286000"/>
          </a:xfrm>
          <a:prstGeom prst="rect">
            <a:avLst/>
          </a:prstGeom>
          <a:noFill/>
          <a:ln>
            <a:noFill/>
          </a:ln>
          <a:extLst/>
        </p:spPr>
        <p:txBody>
          <a:bodyPr vert="horz" wrap="square" lIns="470254" tIns="235127" rIns="470254" bIns="235127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algn="ctr">
              <a:defRPr sz="7100" smtClean="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31454725" y="29978350"/>
            <a:ext cx="10242550" cy="2286000"/>
          </a:xfrm>
          <a:prstGeom prst="rect">
            <a:avLst/>
          </a:prstGeom>
          <a:noFill/>
          <a:ln>
            <a:noFill/>
          </a:ln>
          <a:extLst/>
        </p:spPr>
        <p:txBody>
          <a:bodyPr vert="horz" wrap="square" lIns="470254" tIns="235127" rIns="470254" bIns="235127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algn="r">
              <a:defRPr sz="7100" smtClean="0">
                <a:latin typeface="Arial" pitchFamily="34" charset="0"/>
              </a:defRPr>
            </a:lvl1pPr>
          </a:lstStyle>
          <a:p>
            <a:pPr>
              <a:defRPr/>
            </a:pPr>
            <a:fld id="{D74CA0E6-19C8-4E24-ACA2-24DF946E6C7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pic>
        <p:nvPicPr>
          <p:cNvPr id="1031" name="New picture"/>
          <p:cNvPicPr/>
          <p:nvPr/>
        </p:nvPicPr>
        <p:blipFill>
          <a:blip r:embed="rId14"/>
          <a:stretch>
            <a:fillRect/>
          </a:stretch>
        </p:blipFill>
        <p:spPr>
          <a:xfrm rot="16200000">
            <a:off x="-11074400" y="16459200"/>
            <a:ext cx="14274800" cy="3937000"/>
          </a:xfrm>
          <a:prstGeom prst="rect">
            <a:avLst/>
          </a:prstGeom>
        </p:spPr>
      </p:pic>
      <p:pic>
        <p:nvPicPr>
          <p:cNvPr id="1032" name="New picture"/>
          <p:cNvPicPr/>
          <p:nvPr/>
        </p:nvPicPr>
        <p:blipFill>
          <a:blip r:embed="rId14"/>
          <a:stretch>
            <a:fillRect/>
          </a:stretch>
        </p:blipFill>
        <p:spPr>
          <a:xfrm rot="5400000">
            <a:off x="40690800" y="16459200"/>
            <a:ext cx="14274800" cy="3937000"/>
          </a:xfrm>
          <a:prstGeom prst="rect">
            <a:avLst/>
          </a:prstGeom>
        </p:spPr>
      </p:pic>
      <p:pic>
        <p:nvPicPr>
          <p:cNvPr id="1033" name="New picture"/>
          <p:cNvPicPr/>
          <p:nvPr/>
        </p:nvPicPr>
        <p:blipFill>
          <a:blip r:embed="rId15"/>
          <a:stretch>
            <a:fillRect/>
          </a:stretch>
        </p:blipFill>
        <p:spPr>
          <a:xfrm>
            <a:off x="6946900" y="33426400"/>
            <a:ext cx="29997400" cy="1447800"/>
          </a:xfrm>
          <a:prstGeom prst="rect">
            <a:avLst/>
          </a:prstGeom>
        </p:spPr>
      </p:pic>
      <p:sp>
        <p:nvSpPr>
          <p:cNvPr id="1034" name="New shape"/>
          <p:cNvSpPr/>
          <p:nvPr/>
        </p:nvSpPr>
        <p:spPr>
          <a:xfrm>
            <a:off x="6946900" y="33997900"/>
            <a:ext cx="21945600" cy="127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4560">
                <a:solidFill>
                  <a:srgbClr val="808080"/>
                </a:solidFill>
              </a:rPr>
              <a:t>Template ID: intellectualsage  Size: 48x36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ransition/>
  <p:txStyles>
    <p:titleStyle>
      <a:defPPr>
        <a:defRPr kern="1200"/>
      </a:defPPr>
      <a:lvl1pPr algn="ctr" defTabSz="4703763" rtl="0" eaLnBrk="0" fontAlgn="base" hangingPunct="0">
        <a:spcBef>
          <a:spcPct val="0"/>
        </a:spcBef>
        <a:spcAft>
          <a:spcPct val="0"/>
        </a:spcAft>
        <a:defRPr sz="22700">
          <a:solidFill>
            <a:schemeClr val="tx2"/>
          </a:solidFill>
          <a:latin typeface="+mj-lt"/>
          <a:ea typeface="+mj-ea"/>
          <a:cs typeface="+mj-cs"/>
        </a:defRPr>
      </a:lvl1pPr>
      <a:lvl2pPr algn="ctr" defTabSz="4703763" rtl="0" eaLnBrk="0" fontAlgn="base" hangingPunct="0">
        <a:spcBef>
          <a:spcPct val="0"/>
        </a:spcBef>
        <a:spcAft>
          <a:spcPct val="0"/>
        </a:spcAft>
        <a:defRPr sz="22700">
          <a:solidFill>
            <a:schemeClr val="tx2"/>
          </a:solidFill>
          <a:latin typeface="Arial"/>
        </a:defRPr>
      </a:lvl2pPr>
      <a:lvl3pPr algn="ctr" defTabSz="4703763" rtl="0" eaLnBrk="0" fontAlgn="base" hangingPunct="0">
        <a:spcBef>
          <a:spcPct val="0"/>
        </a:spcBef>
        <a:spcAft>
          <a:spcPct val="0"/>
        </a:spcAft>
        <a:defRPr sz="22700">
          <a:solidFill>
            <a:schemeClr val="tx2"/>
          </a:solidFill>
          <a:latin typeface="Arial"/>
        </a:defRPr>
      </a:lvl3pPr>
      <a:lvl4pPr algn="ctr" defTabSz="4703763" rtl="0" eaLnBrk="0" fontAlgn="base" hangingPunct="0">
        <a:spcBef>
          <a:spcPct val="0"/>
        </a:spcBef>
        <a:spcAft>
          <a:spcPct val="0"/>
        </a:spcAft>
        <a:defRPr sz="22700">
          <a:solidFill>
            <a:schemeClr val="tx2"/>
          </a:solidFill>
          <a:latin typeface="Arial"/>
        </a:defRPr>
      </a:lvl4pPr>
      <a:lvl5pPr algn="ctr" defTabSz="4703763" rtl="0" eaLnBrk="0" fontAlgn="base" hangingPunct="0">
        <a:spcBef>
          <a:spcPct val="0"/>
        </a:spcBef>
        <a:spcAft>
          <a:spcPct val="0"/>
        </a:spcAft>
        <a:defRPr sz="22700">
          <a:solidFill>
            <a:schemeClr val="tx2"/>
          </a:solidFill>
          <a:latin typeface="Arial"/>
        </a:defRPr>
      </a:lvl5pPr>
      <a:lvl6pPr marL="457200" algn="ctr" defTabSz="4703763" rtl="0" fontAlgn="base">
        <a:spcBef>
          <a:spcPct val="0"/>
        </a:spcBef>
        <a:spcAft>
          <a:spcPct val="0"/>
        </a:spcAft>
        <a:defRPr sz="22700">
          <a:solidFill>
            <a:schemeClr val="tx2"/>
          </a:solidFill>
          <a:latin typeface="Arial"/>
        </a:defRPr>
      </a:lvl6pPr>
      <a:lvl7pPr marL="914400" algn="ctr" defTabSz="4703763" rtl="0" fontAlgn="base">
        <a:spcBef>
          <a:spcPct val="0"/>
        </a:spcBef>
        <a:spcAft>
          <a:spcPct val="0"/>
        </a:spcAft>
        <a:defRPr sz="22700">
          <a:solidFill>
            <a:schemeClr val="tx2"/>
          </a:solidFill>
          <a:latin typeface="Arial"/>
        </a:defRPr>
      </a:lvl7pPr>
      <a:lvl8pPr marL="1371600" algn="ctr" defTabSz="4703763" rtl="0" fontAlgn="base">
        <a:spcBef>
          <a:spcPct val="0"/>
        </a:spcBef>
        <a:spcAft>
          <a:spcPct val="0"/>
        </a:spcAft>
        <a:defRPr sz="22700">
          <a:solidFill>
            <a:schemeClr val="tx2"/>
          </a:solidFill>
          <a:latin typeface="Arial"/>
        </a:defRPr>
      </a:lvl8pPr>
      <a:lvl9pPr marL="1828800" algn="ctr" defTabSz="4703763" rtl="0" fontAlgn="base">
        <a:spcBef>
          <a:spcPct val="0"/>
        </a:spcBef>
        <a:spcAft>
          <a:spcPct val="0"/>
        </a:spcAft>
        <a:defRPr sz="22700">
          <a:solidFill>
            <a:schemeClr val="tx2"/>
          </a:solidFill>
          <a:latin typeface="Arial"/>
        </a:defRPr>
      </a:lvl9pPr>
    </p:titleStyle>
    <p:bodyStyle>
      <a:defPPr>
        <a:defRPr kern="1200"/>
      </a:defPPr>
      <a:lvl1pPr marL="1762125" indent="-1762125" algn="l" defTabSz="4703763" rtl="0" eaLnBrk="0" fontAlgn="base" hangingPunct="0">
        <a:spcBef>
          <a:spcPct val="20000"/>
        </a:spcBef>
        <a:spcAft>
          <a:spcPct val="0"/>
        </a:spcAft>
        <a:buChar char="•"/>
        <a:defRPr sz="16500">
          <a:solidFill>
            <a:schemeClr val="tx1"/>
          </a:solidFill>
          <a:latin typeface="+mn-lt"/>
          <a:ea typeface="+mn-ea"/>
          <a:cs typeface="+mn-cs"/>
        </a:defRPr>
      </a:lvl1pPr>
      <a:lvl2pPr marL="3822700" indent="-1471613" algn="l" defTabSz="4703763" rtl="0" eaLnBrk="0" fontAlgn="base" hangingPunct="0">
        <a:spcBef>
          <a:spcPct val="20000"/>
        </a:spcBef>
        <a:spcAft>
          <a:spcPct val="0"/>
        </a:spcAft>
        <a:buChar char="–"/>
        <a:defRPr sz="14400">
          <a:solidFill>
            <a:schemeClr val="tx1"/>
          </a:solidFill>
          <a:latin typeface="+mn-lt"/>
        </a:defRPr>
      </a:lvl2pPr>
      <a:lvl3pPr marL="5878513" indent="-1174750" algn="l" defTabSz="4703763" rtl="0" eaLnBrk="0" fontAlgn="base" hangingPunct="0">
        <a:spcBef>
          <a:spcPct val="20000"/>
        </a:spcBef>
        <a:spcAft>
          <a:spcPct val="0"/>
        </a:spcAft>
        <a:buChar char="•"/>
        <a:defRPr sz="12400">
          <a:solidFill>
            <a:schemeClr val="tx1"/>
          </a:solidFill>
          <a:latin typeface="+mn-lt"/>
        </a:defRPr>
      </a:lvl3pPr>
      <a:lvl4pPr marL="8229600" indent="-1174750" algn="l" defTabSz="4703763" rtl="0" eaLnBrk="0" fontAlgn="base" hangingPunct="0">
        <a:spcBef>
          <a:spcPct val="20000"/>
        </a:spcBef>
        <a:spcAft>
          <a:spcPct val="0"/>
        </a:spcAft>
        <a:buChar char="–"/>
        <a:defRPr sz="10300">
          <a:solidFill>
            <a:schemeClr val="tx1"/>
          </a:solidFill>
          <a:latin typeface="+mn-lt"/>
        </a:defRPr>
      </a:lvl4pPr>
      <a:lvl5pPr marL="10582275" indent="-1176338" algn="l" defTabSz="4703763" rtl="0" eaLnBrk="0" fontAlgn="base" hangingPunct="0">
        <a:spcBef>
          <a:spcPct val="20000"/>
        </a:spcBef>
        <a:spcAft>
          <a:spcPct val="0"/>
        </a:spcAft>
        <a:buChar char="»"/>
        <a:defRPr sz="10300">
          <a:solidFill>
            <a:schemeClr val="tx1"/>
          </a:solidFill>
          <a:latin typeface="+mn-lt"/>
        </a:defRPr>
      </a:lvl5pPr>
      <a:lvl6pPr marL="11039475" indent="-1176338" algn="l" defTabSz="4703763" rtl="0" fontAlgn="base">
        <a:spcBef>
          <a:spcPct val="20000"/>
        </a:spcBef>
        <a:spcAft>
          <a:spcPct val="0"/>
        </a:spcAft>
        <a:buChar char="»"/>
        <a:defRPr sz="10300">
          <a:solidFill>
            <a:schemeClr val="tx1"/>
          </a:solidFill>
          <a:latin typeface="+mn-lt"/>
        </a:defRPr>
      </a:lvl6pPr>
      <a:lvl7pPr marL="11496675" indent="-1176338" algn="l" defTabSz="4703763" rtl="0" fontAlgn="base">
        <a:spcBef>
          <a:spcPct val="20000"/>
        </a:spcBef>
        <a:spcAft>
          <a:spcPct val="0"/>
        </a:spcAft>
        <a:buChar char="»"/>
        <a:defRPr sz="10300">
          <a:solidFill>
            <a:schemeClr val="tx1"/>
          </a:solidFill>
          <a:latin typeface="+mn-lt"/>
        </a:defRPr>
      </a:lvl7pPr>
      <a:lvl8pPr marL="11953875" indent="-1176338" algn="l" defTabSz="4703763" rtl="0" fontAlgn="base">
        <a:spcBef>
          <a:spcPct val="20000"/>
        </a:spcBef>
        <a:spcAft>
          <a:spcPct val="0"/>
        </a:spcAft>
        <a:buChar char="»"/>
        <a:defRPr sz="10300">
          <a:solidFill>
            <a:schemeClr val="tx1"/>
          </a:solidFill>
          <a:latin typeface="+mn-lt"/>
        </a:defRPr>
      </a:lvl8pPr>
      <a:lvl9pPr marL="12411075" indent="-1176338" algn="l" defTabSz="4703763" rtl="0" fontAlgn="base">
        <a:spcBef>
          <a:spcPct val="20000"/>
        </a:spcBef>
        <a:spcAft>
          <a:spcPct val="0"/>
        </a:spcAft>
        <a:buChar char="»"/>
        <a:defRPr sz="103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BCDCDE"/>
            </a:gs>
            <a:gs pos="100000">
              <a:schemeClr val="bg1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: Diagonal Corners Rounded 18">
            <a:extLst>
              <a:ext uri="{FF2B5EF4-FFF2-40B4-BE49-F238E27FC236}">
                <a16:creationId xmlns:a16="http://schemas.microsoft.com/office/drawing/2014/main" id="{406F193C-8566-41B6-8625-E7C934BB073C}"/>
              </a:ext>
            </a:extLst>
          </p:cNvPr>
          <p:cNvSpPr/>
          <p:nvPr/>
        </p:nvSpPr>
        <p:spPr bwMode="auto">
          <a:xfrm>
            <a:off x="685800" y="685799"/>
            <a:ext cx="42519600" cy="6266743"/>
          </a:xfrm>
          <a:prstGeom prst="round2DiagRect">
            <a:avLst/>
          </a:prstGeom>
          <a:solidFill>
            <a:srgbClr val="438086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7037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en-US" sz="3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/>
            </a:endParaRPr>
          </a:p>
        </p:txBody>
      </p:sp>
      <p:sp>
        <p:nvSpPr>
          <p:cNvPr id="20" name="Title 11">
            <a:extLst>
              <a:ext uri="{FF2B5EF4-FFF2-40B4-BE49-F238E27FC236}">
                <a16:creationId xmlns:a16="http://schemas.microsoft.com/office/drawing/2014/main" id="{EE7A5C51-35F0-4B71-992D-43D344D16C04}"/>
              </a:ext>
            </a:extLst>
          </p:cNvPr>
          <p:cNvSpPr txBox="1"/>
          <p:nvPr/>
        </p:nvSpPr>
        <p:spPr>
          <a:xfrm>
            <a:off x="1371600" y="1466143"/>
            <a:ext cx="41148000" cy="2746935"/>
          </a:xfrm>
          <a:prstGeom prst="rect">
            <a:avLst/>
          </a:prstGeom>
        </p:spPr>
        <p:txBody>
          <a:bodyPr lIns="128016" tIns="64008" rIns="128016" bIns="64008"/>
          <a:lstStyle>
            <a:defPPr>
              <a:defRPr lang="en-US"/>
            </a:defPPr>
            <a:lvl1pPr marL="0" algn="l" defTabSz="4388077" rtl="0" eaLnBrk="1" latinLnBrk="0" hangingPunct="1">
              <a:defRPr sz="86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94039" algn="l" defTabSz="4388077" rtl="0" eaLnBrk="1" latinLnBrk="0" hangingPunct="1">
              <a:defRPr sz="86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88077" algn="l" defTabSz="4388077" rtl="0" eaLnBrk="1" latinLnBrk="0" hangingPunct="1">
              <a:defRPr sz="86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582120" algn="l" defTabSz="4388077" rtl="0" eaLnBrk="1" latinLnBrk="0" hangingPunct="1">
              <a:defRPr sz="86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776160" algn="l" defTabSz="4388077" rtl="0" eaLnBrk="1" latinLnBrk="0" hangingPunct="1">
              <a:defRPr sz="86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970199" algn="l" defTabSz="4388077" rtl="0" eaLnBrk="1" latinLnBrk="0" hangingPunct="1">
              <a:defRPr sz="86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164238" algn="l" defTabSz="4388077" rtl="0" eaLnBrk="1" latinLnBrk="0" hangingPunct="1">
              <a:defRPr sz="86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358277" algn="l" defTabSz="4388077" rtl="0" eaLnBrk="1" latinLnBrk="0" hangingPunct="1">
              <a:defRPr sz="86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552318" algn="l" defTabSz="4388077" rtl="0" eaLnBrk="1" latinLnBrk="0" hangingPunct="1">
              <a:defRPr sz="86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0" dirty="0" err="1"/>
              <a:t>Automatska</a:t>
            </a:r>
            <a:r>
              <a:rPr lang="en-US" sz="8000" dirty="0"/>
              <a:t> </a:t>
            </a:r>
            <a:r>
              <a:rPr lang="en-US" sz="8000" dirty="0" err="1"/>
              <a:t>detekcija</a:t>
            </a:r>
            <a:r>
              <a:rPr lang="en-US" sz="8000" dirty="0"/>
              <a:t> </a:t>
            </a:r>
            <a:r>
              <a:rPr lang="en-US" sz="8000" dirty="0" err="1"/>
              <a:t>šahovske</a:t>
            </a:r>
            <a:r>
              <a:rPr lang="en-US" sz="8000" dirty="0"/>
              <a:t> table </a:t>
            </a:r>
            <a:r>
              <a:rPr lang="en-US" sz="8000" dirty="0" err="1"/>
              <a:t>i</a:t>
            </a:r>
            <a:r>
              <a:rPr lang="en-US" sz="8000" dirty="0"/>
              <a:t> </a:t>
            </a:r>
            <a:r>
              <a:rPr lang="en-US" sz="8000" dirty="0" err="1"/>
              <a:t>pozicija</a:t>
            </a:r>
            <a:r>
              <a:rPr lang="en-US" sz="8000" dirty="0"/>
              <a:t> </a:t>
            </a:r>
            <a:r>
              <a:rPr lang="en-US" sz="8000" dirty="0" err="1"/>
              <a:t>figura</a:t>
            </a:r>
            <a:r>
              <a:rPr lang="en-US" sz="8000" dirty="0"/>
              <a:t> </a:t>
            </a:r>
            <a:r>
              <a:rPr lang="en-US" sz="8000" dirty="0" err="1"/>
              <a:t>iz</a:t>
            </a:r>
            <a:r>
              <a:rPr lang="en-US" sz="8000" dirty="0"/>
              <a:t> </a:t>
            </a:r>
            <a:r>
              <a:rPr lang="en-US" sz="8000" dirty="0" err="1"/>
              <a:t>slike</a:t>
            </a:r>
            <a:r>
              <a:rPr lang="en-US" sz="8000" dirty="0"/>
              <a:t>: </a:t>
            </a:r>
            <a:endParaRPr lang="sr-Latn-RS" sz="8000" dirty="0" smtClean="0"/>
          </a:p>
          <a:p>
            <a:pPr algn="ctr"/>
            <a:r>
              <a:rPr lang="en-US" sz="8000" dirty="0" err="1" smtClean="0"/>
              <a:t>poređenje</a:t>
            </a:r>
            <a:r>
              <a:rPr lang="en-US" sz="8000" dirty="0" smtClean="0"/>
              <a:t> </a:t>
            </a:r>
            <a:r>
              <a:rPr lang="en-US" sz="8000" dirty="0" err="1"/>
              <a:t>klasičnih</a:t>
            </a:r>
            <a:r>
              <a:rPr lang="en-US" sz="8000" dirty="0"/>
              <a:t> </a:t>
            </a:r>
            <a:r>
              <a:rPr lang="en-US" sz="8000" dirty="0" err="1"/>
              <a:t>metoda</a:t>
            </a:r>
            <a:r>
              <a:rPr lang="en-US" sz="8000" dirty="0"/>
              <a:t> </a:t>
            </a:r>
            <a:r>
              <a:rPr lang="en-US" sz="8000" dirty="0" err="1"/>
              <a:t>i</a:t>
            </a:r>
            <a:r>
              <a:rPr lang="en-US" sz="8000" dirty="0"/>
              <a:t> deep learning </a:t>
            </a:r>
            <a:r>
              <a:rPr lang="en-US" sz="8000" dirty="0" err="1"/>
              <a:t>pristupa</a:t>
            </a:r>
            <a:endParaRPr lang="en-US" sz="8500" dirty="0">
              <a:solidFill>
                <a:schemeClr val="bg1"/>
              </a:solidFill>
              <a:latin typeface="Libre Baskerville" panose="02000000000000000000" pitchFamily="2" charset="0"/>
            </a:endParaRPr>
          </a:p>
        </p:txBody>
      </p:sp>
      <p:sp>
        <p:nvSpPr>
          <p:cNvPr id="21" name="Text Placeholder 16">
            <a:extLst>
              <a:ext uri="{FF2B5EF4-FFF2-40B4-BE49-F238E27FC236}">
                <a16:creationId xmlns:a16="http://schemas.microsoft.com/office/drawing/2014/main" id="{1F3AA395-C058-4F87-B3A3-A8A8BC543EF9}"/>
              </a:ext>
            </a:extLst>
          </p:cNvPr>
          <p:cNvSpPr txBox="1"/>
          <p:nvPr/>
        </p:nvSpPr>
        <p:spPr>
          <a:xfrm>
            <a:off x="1371600" y="4451806"/>
            <a:ext cx="41148000" cy="1034594"/>
          </a:xfrm>
          <a:prstGeom prst="rect">
            <a:avLst/>
          </a:prstGeom>
        </p:spPr>
        <p:txBody>
          <a:bodyPr lIns="128016" tIns="64008" rIns="128016" bIns="64008"/>
          <a:lstStyle>
            <a:defPPr>
              <a:defRPr lang="en-US"/>
            </a:defPPr>
            <a:lvl1pPr marL="0" algn="l" defTabSz="4388077" rtl="0" eaLnBrk="1" latinLnBrk="0" hangingPunct="1">
              <a:defRPr sz="86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94039" algn="l" defTabSz="4388077" rtl="0" eaLnBrk="1" latinLnBrk="0" hangingPunct="1">
              <a:defRPr sz="86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88077" algn="l" defTabSz="4388077" rtl="0" eaLnBrk="1" latinLnBrk="0" hangingPunct="1">
              <a:defRPr sz="86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582120" algn="l" defTabSz="4388077" rtl="0" eaLnBrk="1" latinLnBrk="0" hangingPunct="1">
              <a:defRPr sz="86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776160" algn="l" defTabSz="4388077" rtl="0" eaLnBrk="1" latinLnBrk="0" hangingPunct="1">
              <a:defRPr sz="86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970199" algn="l" defTabSz="4388077" rtl="0" eaLnBrk="1" latinLnBrk="0" hangingPunct="1">
              <a:defRPr sz="86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164238" algn="l" defTabSz="4388077" rtl="0" eaLnBrk="1" latinLnBrk="0" hangingPunct="1">
              <a:defRPr sz="86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358277" algn="l" defTabSz="4388077" rtl="0" eaLnBrk="1" latinLnBrk="0" hangingPunct="1">
              <a:defRPr sz="86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552318" algn="l" defTabSz="4388077" rtl="0" eaLnBrk="1" latinLnBrk="0" hangingPunct="1">
              <a:defRPr sz="86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sr-Latn-RS" sz="5600" dirty="0" smtClean="0">
                <a:solidFill>
                  <a:schemeClr val="bg1"/>
                </a:solidFill>
                <a:latin typeface="Montserrat Light" panose="00000400000000000000" pitchFamily="50" charset="0"/>
              </a:rPr>
              <a:t>Jovana Vlaškalić, Anđela Pinjić, Luka Marić</a:t>
            </a:r>
          </a:p>
          <a:p>
            <a:pPr algn="ctr"/>
            <a:r>
              <a:rPr lang="sr-Latn-RS" sz="5600" dirty="0" smtClean="0">
                <a:solidFill>
                  <a:schemeClr val="bg1"/>
                </a:solidFill>
                <a:latin typeface="Montserrat Light" panose="00000400000000000000" pitchFamily="50" charset="0"/>
              </a:rPr>
              <a:t>Fakultet Tehničih nauka</a:t>
            </a:r>
            <a:endParaRPr lang="en-US" sz="5600" dirty="0">
              <a:solidFill>
                <a:schemeClr val="bg1"/>
              </a:solidFill>
              <a:latin typeface="Montserrat Light" panose="00000400000000000000" pitchFamily="50" charset="0"/>
            </a:endParaRPr>
          </a:p>
        </p:txBody>
      </p:sp>
      <p:sp>
        <p:nvSpPr>
          <p:cNvPr id="22" name="TextBox 19">
            <a:extLst>
              <a:ext uri="{FF2B5EF4-FFF2-40B4-BE49-F238E27FC236}">
                <a16:creationId xmlns:a16="http://schemas.microsoft.com/office/drawing/2014/main" id="{33A929B9-4AE7-4535-8E25-5C0801DF27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" y="8874301"/>
            <a:ext cx="10058400" cy="49859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9pPr>
          </a:lstStyle>
          <a:p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Cilj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projekta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je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razvoj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evaluacija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sistema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za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automatsku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lokalizaciju</a:t>
            </a:r>
            <a:r>
              <a:rPr lang="en-US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šahovske</a:t>
            </a:r>
            <a:r>
              <a:rPr lang="en-US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table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detekciju</a:t>
            </a:r>
            <a:r>
              <a:rPr lang="en-US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/</a:t>
            </a:r>
            <a:r>
              <a:rPr lang="en-US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klasifikaciju</a:t>
            </a:r>
            <a:r>
              <a:rPr lang="en-US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b="1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figura</a:t>
            </a:r>
            <a:r>
              <a:rPr lang="sr-Latn-RS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sa</a:t>
            </a:r>
            <a:r>
              <a:rPr lang="en-US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fotografije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. </a:t>
            </a:r>
            <a:endParaRPr lang="sr-Latn-RS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endParaRPr lang="sr-Latn-RS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Zadatak</a:t>
            </a:r>
            <a:r>
              <a:rPr lang="en-US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uključuje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pronalaženje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table</a:t>
            </a:r>
            <a:endParaRPr lang="sr-Latn-RS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detekciju</a:t>
            </a:r>
            <a:r>
              <a:rPr lang="en-US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figura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kao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objekata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endParaRPr lang="sr-Latn-RS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robustan</a:t>
            </a:r>
            <a:r>
              <a:rPr lang="en-US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rad u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uslovima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perspektive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senki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refleksija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zaklanjanja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.</a:t>
            </a:r>
          </a:p>
          <a:p>
            <a:r>
              <a:rPr lang="en-US" sz="2400" dirty="0"/>
              <a:t/>
            </a:r>
            <a:br>
              <a:rPr lang="en-US" sz="2400" dirty="0"/>
            </a:br>
            <a:endParaRPr lang="en-US" sz="2400" dirty="0">
              <a:latin typeface="Montserrat Light" panose="00000400000000000000" pitchFamily="50" charset="0"/>
              <a:cs typeface="Arial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0700EFA-F39A-4B67-A41D-B592D1296C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7825844"/>
            <a:ext cx="10058400" cy="87330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noFill/>
            <a:miter lim="800000"/>
          </a:ln>
        </p:spPr>
        <p:txBody>
          <a:bodyPr wrap="none" lIns="274320" tIns="73152" rIns="274320" bIns="68563" anchor="ctr" anchorCtr="0"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9pPr>
          </a:lstStyle>
          <a:p>
            <a:pPr defTabSz="4702588">
              <a:defRPr/>
            </a:pPr>
            <a:r>
              <a:rPr lang="sr-Latn-RS" sz="3600" b="1" dirty="0" smtClean="0">
                <a:solidFill>
                  <a:schemeClr val="bg1"/>
                </a:solidFill>
                <a:latin typeface="Libre Baskerville" panose="02000000000000000000" pitchFamily="2" charset="0"/>
              </a:rPr>
              <a:t>Problem</a:t>
            </a:r>
            <a:endParaRPr lang="en-US" sz="3600" b="1" dirty="0">
              <a:solidFill>
                <a:schemeClr val="bg1"/>
              </a:solidFill>
              <a:latin typeface="Libre Baskerville" panose="02000000000000000000" pitchFamily="2" charset="0"/>
            </a:endParaRPr>
          </a:p>
        </p:txBody>
      </p:sp>
      <p:sp>
        <p:nvSpPr>
          <p:cNvPr id="24" name="TextBox 19">
            <a:extLst>
              <a:ext uri="{FF2B5EF4-FFF2-40B4-BE49-F238E27FC236}">
                <a16:creationId xmlns:a16="http://schemas.microsoft.com/office/drawing/2014/main" id="{3C57D4F6-5B1E-4A2D-8728-4DE56B7226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12535" y="8869031"/>
            <a:ext cx="10858815" cy="158812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9pPr>
          </a:lstStyle>
          <a:p>
            <a:pPr algn="ctr"/>
            <a:r>
              <a:rPr lang="en-US" sz="3200" b="1" u="sng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DETEKCIJA TABLE </a:t>
            </a:r>
            <a:endParaRPr lang="sr-Latn-RS" sz="3200" b="1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34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Canny + </a:t>
            </a:r>
            <a:r>
              <a:rPr lang="en-US" sz="3400" b="1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konture</a:t>
            </a:r>
            <a:endParaRPr lang="sr-Latn-RS" sz="3400" b="1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endParaRPr lang="sr-Latn-RS" sz="3300" b="1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endParaRPr lang="sr-Latn-RS" sz="3300" b="1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3200" b="1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Brzo</a:t>
            </a:r>
            <a:r>
              <a:rPr lang="en-US" sz="32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</a:t>
            </a:r>
            <a:r>
              <a:rPr lang="en-US" sz="32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precizno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kada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je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obris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table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jasan</a:t>
            </a:r>
            <a:r>
              <a:rPr lang="en-U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.</a:t>
            </a:r>
            <a:endParaRPr lang="sr-Latn-RS" sz="3200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3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400" b="1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Probabilistički</a:t>
            </a:r>
            <a:r>
              <a:rPr lang="en-US" sz="34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Hough</a:t>
            </a:r>
            <a:endParaRPr lang="sr-Latn-RS" sz="3400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endParaRPr lang="sr-Latn-RS" sz="3300" b="1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endParaRPr lang="sr-Latn-RS" sz="3300" b="1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endParaRPr lang="sr-Latn-RS" sz="3300" b="1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3200" b="1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Stabilno</a:t>
            </a:r>
            <a:r>
              <a:rPr lang="en-US" sz="32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kad</a:t>
            </a:r>
            <a:r>
              <a:rPr lang="en-US" sz="32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se </a:t>
            </a:r>
            <a:r>
              <a:rPr lang="en-US" sz="32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linije</a:t>
            </a:r>
            <a:r>
              <a:rPr lang="en-US" sz="32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vide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slabije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kod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prekida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/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perspektive</a:t>
            </a:r>
            <a:r>
              <a:rPr lang="en-U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.</a:t>
            </a:r>
            <a:endParaRPr lang="sr-Latn-RS" sz="3200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3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4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X-corner </a:t>
            </a:r>
            <a:r>
              <a:rPr lang="en-US" sz="34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+ RANSAC + </a:t>
            </a:r>
            <a:r>
              <a:rPr lang="en-US" sz="3400" b="1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homografija</a:t>
            </a:r>
            <a:endParaRPr lang="sr-Latn-RS" sz="3400" b="1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sr-Latn-RS" sz="3600" b="1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endParaRPr lang="sr-Latn-RS" sz="3600" b="1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endParaRPr lang="sr-Latn-RS" sz="3600" b="1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3300" b="1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Robusno</a:t>
            </a:r>
            <a:r>
              <a:rPr lang="en-US" sz="33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na</a:t>
            </a:r>
            <a:r>
              <a:rPr lang="en-US" sz="33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perspektivu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omogućava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warp/grid overlay</a:t>
            </a:r>
            <a:r>
              <a:rPr lang="en-US" sz="33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.</a:t>
            </a:r>
            <a:endParaRPr lang="sr-Latn-RS" sz="3300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3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DNN </a:t>
            </a:r>
            <a:r>
              <a:rPr lang="en-US" sz="36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filter (</a:t>
            </a:r>
            <a:r>
              <a:rPr lang="en-US" sz="36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za</a:t>
            </a:r>
            <a:r>
              <a:rPr lang="en-US" sz="36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6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X-corner)</a:t>
            </a:r>
            <a:endParaRPr lang="sr-Latn-RS" sz="3600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DNN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klasifikuje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patch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za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svaku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X-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tačku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uklanja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lažne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. </a:t>
            </a:r>
            <a:r>
              <a:rPr lang="en-US" sz="32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Manje</a:t>
            </a:r>
            <a:r>
              <a:rPr lang="en-US" sz="32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outlier-a </a:t>
            </a:r>
            <a:r>
              <a:rPr lang="sr-Latn-R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pa je</a:t>
            </a:r>
            <a:r>
              <a:rPr lang="en-U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stabilnija</a:t>
            </a:r>
            <a:r>
              <a:rPr lang="en-US" sz="32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homografija</a:t>
            </a:r>
            <a:r>
              <a:rPr lang="en-US" sz="33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.</a:t>
            </a:r>
            <a:endParaRPr lang="sr-Latn-RS" sz="3300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endParaRPr lang="sr-Latn-RS" sz="3300" u="sng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pPr algn="ctr"/>
            <a:r>
              <a:rPr lang="sr-Latn-RS" sz="3200" b="1" u="sng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DETEKCIJA FIGURA</a:t>
            </a:r>
            <a:endParaRPr lang="sr-Latn-RS" sz="3200" b="1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32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YOLO</a:t>
            </a:r>
            <a:r>
              <a:rPr lang="en-U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model</a:t>
            </a:r>
            <a:r>
              <a:rPr lang="sr-Latn-RS" sz="32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-</a:t>
            </a:r>
            <a:r>
              <a:rPr lang="en-U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za</a:t>
            </a:r>
            <a:r>
              <a:rPr lang="en-U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detekciju</a:t>
            </a:r>
            <a:r>
              <a:rPr lang="en-U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</a:t>
            </a:r>
            <a:r>
              <a:rPr lang="en-U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klasifikaciju</a:t>
            </a:r>
            <a:r>
              <a:rPr lang="en-U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šahovskih</a:t>
            </a:r>
            <a:r>
              <a:rPr lang="en-U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figura</a:t>
            </a:r>
            <a:r>
              <a:rPr lang="en-U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</a:t>
            </a:r>
            <a:r>
              <a:rPr lang="sr-Latn-R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izlaz</a:t>
            </a:r>
            <a:r>
              <a:rPr lang="en-U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čine</a:t>
            </a:r>
            <a:r>
              <a:rPr lang="en-U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bounding box-</a:t>
            </a:r>
            <a:r>
              <a:rPr lang="en-US" sz="3200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evi</a:t>
            </a:r>
            <a:r>
              <a:rPr lang="en-U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</a:t>
            </a:r>
            <a:r>
              <a:rPr lang="en-U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klase</a:t>
            </a:r>
            <a:r>
              <a:rPr lang="en-U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figura</a:t>
            </a:r>
            <a:r>
              <a:rPr lang="sr-Latn-R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. Treniran na </a:t>
            </a:r>
            <a:r>
              <a:rPr lang="sr-Latn-RS" sz="32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70 epoha </a:t>
            </a:r>
            <a:r>
              <a:rPr lang="sr-Latn-R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(</a:t>
            </a:r>
            <a:r>
              <a:rPr lang="sr-Latn-RS" sz="32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batch=16</a:t>
            </a:r>
            <a:r>
              <a:rPr lang="sr-Latn-R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) uz početni learning rate </a:t>
            </a:r>
            <a:r>
              <a:rPr lang="sr-Latn-RS" sz="32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lr0=0.01</a:t>
            </a:r>
            <a:r>
              <a:rPr lang="sr-Latn-R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</a:t>
            </a:r>
            <a:r>
              <a:rPr lang="sr-Latn-RS" sz="32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momentum=0.937</a:t>
            </a:r>
            <a:r>
              <a:rPr lang="sr-Latn-R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i </a:t>
            </a:r>
            <a:r>
              <a:rPr lang="sr-Latn-RS" sz="32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weight_decay=0.0005</a:t>
            </a:r>
          </a:p>
          <a:p>
            <a:endParaRPr lang="en-US" sz="3200" b="1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6D4AEC4-FDA9-4DCC-AB41-6178867ED8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22348" y="7855618"/>
            <a:ext cx="10266051" cy="84352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noFill/>
            <a:miter lim="800000"/>
          </a:ln>
        </p:spPr>
        <p:txBody>
          <a:bodyPr wrap="none" lIns="274320" tIns="73152" rIns="274320" bIns="68563" anchor="ctr" anchorCtr="0"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9pPr>
          </a:lstStyle>
          <a:p>
            <a:pPr defTabSz="4702588">
              <a:defRPr/>
            </a:pPr>
            <a:r>
              <a:rPr lang="en-US" sz="3600" b="1" dirty="0" err="1" smtClean="0">
                <a:solidFill>
                  <a:schemeClr val="bg1"/>
                </a:solidFill>
                <a:latin typeface="Libre Baskerville" panose="02000000000000000000" pitchFamily="2" charset="0"/>
              </a:rPr>
              <a:t>Metodlogije</a:t>
            </a:r>
            <a:endParaRPr lang="en-US" sz="3600" b="1" dirty="0">
              <a:solidFill>
                <a:schemeClr val="bg1"/>
              </a:solidFill>
              <a:latin typeface="Libre Baskerville" panose="02000000000000000000" pitchFamily="2" charset="0"/>
            </a:endParaRPr>
          </a:p>
        </p:txBody>
      </p:sp>
      <p:sp>
        <p:nvSpPr>
          <p:cNvPr id="26" name="TextBox 19">
            <a:extLst>
              <a:ext uri="{FF2B5EF4-FFF2-40B4-BE49-F238E27FC236}">
                <a16:creationId xmlns:a16="http://schemas.microsoft.com/office/drawing/2014/main" id="{C6D1DA5E-B2DC-498D-8EF9-B74BF94060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945599" y="8942209"/>
            <a:ext cx="21546363" cy="69865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9pPr>
          </a:lstStyle>
          <a:p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Eksperimenti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su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rađeni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na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sr-Latn-RS" sz="32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379</a:t>
            </a:r>
            <a:r>
              <a:rPr lang="en-US" sz="32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slika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ground-truth </a:t>
            </a:r>
            <a:endParaRPr lang="sr-Latn-RS" sz="3200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3200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anotacijama</a:t>
            </a:r>
            <a:r>
              <a:rPr lang="en-U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table</a:t>
            </a:r>
            <a:r>
              <a:rPr lang="en-U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.</a:t>
            </a:r>
            <a:endParaRPr lang="sr-Latn-RS" sz="3200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endParaRPr lang="sr-Latn-RS" sz="3200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endParaRPr lang="en-US" sz="32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32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Metri</a:t>
            </a:r>
            <a:r>
              <a:rPr lang="sr-Cyrl-RS" sz="32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ке:</a:t>
            </a:r>
            <a:endParaRPr lang="sr-Cyrl-RS" sz="32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2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IoU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(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predikovani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poligon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vs GT) –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tačnost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lokalizacije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table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2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Success rate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–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procenat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slika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validnom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detekcijom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endParaRPr lang="sr-Latn-RS" sz="3200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200" b="1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Vreme</a:t>
            </a:r>
            <a:r>
              <a:rPr lang="en-US" sz="32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izvršavanja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–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brzina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po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slici</a:t>
            </a:r>
            <a:endParaRPr lang="sr-Latn-RS" sz="3200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endParaRPr lang="en-US" sz="32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32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Tipične</a:t>
            </a:r>
            <a:r>
              <a:rPr lang="en-US" sz="32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greške</a:t>
            </a:r>
            <a:r>
              <a:rPr lang="en-US" sz="32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:</a:t>
            </a:r>
            <a:endParaRPr lang="en-US" sz="32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2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Canny: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prekid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ivica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/ slab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kontrast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→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nema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stabilne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zatvorene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konture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ili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se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uhvati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pogrešan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obris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2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Hough: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jaka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perspektiva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→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linije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nisu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blizu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idealnih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orijentacija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→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pogrešna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rekonstrukcija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četvorougla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2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Xpoints</a:t>
            </a:r>
            <a:r>
              <a:rPr lang="en-US" sz="32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/RANSAC: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nema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“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potpunog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pada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”,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ali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se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javlja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“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klizanje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”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homografije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(grid ne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prati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savršeno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ivice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2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DNN filter: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stabilniji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Xpoints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ali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sporiji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; rep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vremena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dolazi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od RANSAC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iteracija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1B18890-DE76-4473-9E1E-3198CB4321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45599" y="7806260"/>
            <a:ext cx="21140533" cy="92265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noFill/>
            <a:miter lim="800000"/>
          </a:ln>
        </p:spPr>
        <p:txBody>
          <a:bodyPr wrap="none" lIns="274320" tIns="73152" rIns="274320" bIns="68563" anchor="ctr" anchorCtr="0"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9pPr>
          </a:lstStyle>
          <a:p>
            <a:pPr defTabSz="4702588">
              <a:defRPr/>
            </a:pPr>
            <a:r>
              <a:rPr lang="sr-Latn-RS" sz="3600" b="1" dirty="0" smtClean="0">
                <a:solidFill>
                  <a:schemeClr val="bg1"/>
                </a:solidFill>
                <a:latin typeface="Libre Baskerville" panose="02000000000000000000" pitchFamily="2" charset="0"/>
              </a:rPr>
              <a:t>Detekcija table - Evaluacija i diskusija</a:t>
            </a:r>
            <a:endParaRPr lang="en-US" sz="3600" b="1" dirty="0">
              <a:solidFill>
                <a:schemeClr val="bg1"/>
              </a:solidFill>
              <a:latin typeface="Libre Baskerville" panose="02000000000000000000" pitchFamily="2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5009B54-5040-4B8B-91C3-ED7FF3B1B7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45599" y="16221817"/>
            <a:ext cx="13566656" cy="102155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noFill/>
            <a:miter lim="800000"/>
          </a:ln>
        </p:spPr>
        <p:txBody>
          <a:bodyPr wrap="none" lIns="274320" tIns="73152" rIns="274320" bIns="68563" anchor="ctr" anchorCtr="0"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9pPr>
          </a:lstStyle>
          <a:p>
            <a:pPr defTabSz="4702588">
              <a:defRPr/>
            </a:pPr>
            <a:r>
              <a:rPr lang="sr-Latn-RS" sz="3600" b="1" dirty="0">
                <a:solidFill>
                  <a:schemeClr val="bg1"/>
                </a:solidFill>
                <a:latin typeface="Libre Baskerville" panose="02000000000000000000" pitchFamily="2" charset="0"/>
              </a:rPr>
              <a:t>Detekcija table </a:t>
            </a:r>
            <a:r>
              <a:rPr lang="sr-Latn-RS" sz="3600" b="1" dirty="0" smtClean="0">
                <a:solidFill>
                  <a:schemeClr val="bg1"/>
                </a:solidFill>
                <a:latin typeface="Libre Baskerville" panose="02000000000000000000" pitchFamily="2" charset="0"/>
              </a:rPr>
              <a:t>- Rezultati</a:t>
            </a:r>
            <a:endParaRPr lang="en-US" sz="3600" b="1" dirty="0">
              <a:solidFill>
                <a:schemeClr val="bg1"/>
              </a:solidFill>
              <a:latin typeface="Libre Baskerville" panose="02000000000000000000" pitchFamily="2" charset="0"/>
            </a:endParaRPr>
          </a:p>
        </p:txBody>
      </p:sp>
      <p:sp>
        <p:nvSpPr>
          <p:cNvPr id="30" name="TextBox 19">
            <a:extLst>
              <a:ext uri="{FF2B5EF4-FFF2-40B4-BE49-F238E27FC236}">
                <a16:creationId xmlns:a16="http://schemas.microsoft.com/office/drawing/2014/main" id="{D73BEFC1-7549-40B5-A4BD-36562574DF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14646729"/>
            <a:ext cx="10210800" cy="36471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Rešenje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je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korisno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za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digitalizaciju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partija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automatsku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analizu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edukativne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“</a:t>
            </a:r>
            <a:r>
              <a:rPr lang="en-US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smart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”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šahovske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aplikacije</a:t>
            </a:r>
            <a:r>
              <a:rPr lang="en-US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.</a:t>
            </a:r>
            <a:endParaRPr lang="sr-Latn-RS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pPr algn="just">
              <a:lnSpc>
                <a:spcPct val="110000"/>
              </a:lnSpc>
            </a:pPr>
            <a:r>
              <a:rPr lang="sr-Latn-RS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Onlajn</a:t>
            </a:r>
            <a:r>
              <a:rPr lang="en-US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igranja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AI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alata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(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igranje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protiv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botova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automatska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analiza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partija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na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platformama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poput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Chess.com)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doprineo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je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ponovnoj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popularizaciji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šaha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uz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zabeležene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skokove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aktivnosti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tokom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2020.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ponovo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početkom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2023.</a:t>
            </a:r>
            <a:endParaRPr lang="sr-Latn-RS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93C6F59-1B0C-4EDA-8518-F88FAC8AF1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13569112"/>
            <a:ext cx="10058400" cy="87330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noFill/>
            <a:miter lim="800000"/>
          </a:ln>
        </p:spPr>
        <p:txBody>
          <a:bodyPr wrap="none" lIns="274320" tIns="73152" rIns="274320" bIns="68563" anchor="ctr" anchorCtr="0"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9pPr>
          </a:lstStyle>
          <a:p>
            <a:pPr defTabSz="4702588">
              <a:defRPr/>
            </a:pPr>
            <a:r>
              <a:rPr lang="sr-Latn-RS" sz="3600" b="1" dirty="0" smtClean="0">
                <a:solidFill>
                  <a:schemeClr val="bg1"/>
                </a:solidFill>
                <a:latin typeface="Libre Baskerville" panose="02000000000000000000" pitchFamily="2" charset="0"/>
              </a:rPr>
              <a:t>Motivacija</a:t>
            </a:r>
            <a:endParaRPr lang="en-US" sz="3600" b="1" dirty="0">
              <a:solidFill>
                <a:schemeClr val="bg1"/>
              </a:solidFill>
              <a:latin typeface="Libre Baskerville" panose="02000000000000000000" pitchFamily="2" charset="0"/>
            </a:endParaRPr>
          </a:p>
        </p:txBody>
      </p:sp>
      <p:sp>
        <p:nvSpPr>
          <p:cNvPr id="32" name="TextBox 19">
            <a:extLst>
              <a:ext uri="{FF2B5EF4-FFF2-40B4-BE49-F238E27FC236}">
                <a16:creationId xmlns:a16="http://schemas.microsoft.com/office/drawing/2014/main" id="{D8586159-F4C4-4390-B155-F7761D6690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397809" y="17583990"/>
            <a:ext cx="6723704" cy="56015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9pPr>
          </a:lstStyle>
          <a:p>
            <a:r>
              <a:rPr lang="en-US" b="1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Najprecizniji</a:t>
            </a:r>
            <a:r>
              <a:rPr lang="en-US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</a:t>
            </a:r>
            <a:r>
              <a:rPr lang="en-US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b="1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najbrži</a:t>
            </a:r>
            <a:r>
              <a:rPr lang="en-US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:</a:t>
            </a:r>
            <a:r>
              <a:rPr lang="en-US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Canny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endParaRPr lang="sr-Latn-RS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visok</a:t>
            </a:r>
            <a:r>
              <a:rPr lang="en-US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IoU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+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najkraće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vreme</a:t>
            </a:r>
            <a:endParaRPr lang="sr-Latn-RS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endParaRPr lang="en-US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Najrobusniji</a:t>
            </a:r>
            <a:r>
              <a:rPr lang="en-US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: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b="1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Xpoints</a:t>
            </a:r>
            <a:r>
              <a:rPr lang="en-US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/RANSAC</a:t>
            </a:r>
            <a:r>
              <a:rPr lang="sr-Latn-RS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–</a:t>
            </a:r>
            <a:endParaRPr lang="sr-Latn-RS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sporiji</a:t>
            </a:r>
            <a:r>
              <a:rPr lang="en-US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sa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umerenim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IoU</a:t>
            </a:r>
            <a:r>
              <a:rPr lang="en-US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.</a:t>
            </a:r>
            <a:endParaRPr lang="sr-Latn-RS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endParaRPr lang="en-US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Najbolji</a:t>
            </a:r>
            <a:r>
              <a:rPr lang="en-US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kompromis</a:t>
            </a:r>
            <a:r>
              <a:rPr lang="en-US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stabilnosti</a:t>
            </a:r>
            <a:r>
              <a:rPr lang="en-US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Xpoints</a:t>
            </a:r>
            <a:r>
              <a:rPr lang="en-US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-a: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DNN </a:t>
            </a:r>
            <a:r>
              <a:rPr lang="en-US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filtriranje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endParaRPr lang="sr-Latn-RS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bolji</a:t>
            </a:r>
            <a:r>
              <a:rPr lang="en-US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IoU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od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čistog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Xpoints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vrlo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konzistentna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homografija</a:t>
            </a:r>
            <a:r>
              <a:rPr lang="sr-Latn-RS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</a:t>
            </a:r>
            <a:r>
              <a:rPr lang="en-US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uz</a:t>
            </a:r>
            <a:r>
              <a:rPr lang="en-US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veću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cenu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vremena</a:t>
            </a:r>
            <a:endParaRPr lang="sr-Latn-RS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endParaRPr lang="en-US" sz="28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F59AB0E-37A8-4432-8FCF-494C059337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397809" y="16255182"/>
            <a:ext cx="6703563" cy="99745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noFill/>
            <a:miter lim="800000"/>
          </a:ln>
        </p:spPr>
        <p:txBody>
          <a:bodyPr wrap="none" lIns="274320" tIns="73152" rIns="274320" bIns="68563" anchor="ctr" anchorCtr="0"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9pPr>
          </a:lstStyle>
          <a:p>
            <a:pPr defTabSz="4702588">
              <a:defRPr/>
            </a:pPr>
            <a:r>
              <a:rPr lang="sr-Latn-RS" sz="3600" b="1" dirty="0" smtClean="0">
                <a:solidFill>
                  <a:schemeClr val="bg1"/>
                </a:solidFill>
                <a:latin typeface="Libre Baskerville" panose="02000000000000000000" pitchFamily="2" charset="0"/>
              </a:rPr>
              <a:t>Zaključak</a:t>
            </a:r>
            <a:endParaRPr lang="en-US" sz="3600" b="1" dirty="0">
              <a:solidFill>
                <a:schemeClr val="bg1"/>
              </a:solidFill>
              <a:latin typeface="Libre Baskerville" panose="02000000000000000000" pitchFamily="2" charset="0"/>
            </a:endParaRPr>
          </a:p>
        </p:txBody>
      </p:sp>
      <p:pic>
        <p:nvPicPr>
          <p:cNvPr id="1026" name="Picture 2" descr="https://images.chesscomfiles.com/uploads/v1/images_users/tiny_mce/Leon_Watson/phptanlVT.pn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402" t="21651" r="3303" b="9402"/>
          <a:stretch/>
        </p:blipFill>
        <p:spPr bwMode="auto">
          <a:xfrm>
            <a:off x="533400" y="18293858"/>
            <a:ext cx="10058400" cy="48879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/>
          <a:srcRect l="3807" r="4882" b="4853"/>
          <a:stretch/>
        </p:blipFill>
        <p:spPr>
          <a:xfrm>
            <a:off x="36397809" y="22944066"/>
            <a:ext cx="6155015" cy="415141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/>
          <a:srcRect l="4549" t="6770"/>
          <a:stretch/>
        </p:blipFill>
        <p:spPr>
          <a:xfrm>
            <a:off x="21904326" y="18121259"/>
            <a:ext cx="6534022" cy="4723332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5"/>
          <a:srcRect l="4629" t="6770"/>
          <a:stretch/>
        </p:blipFill>
        <p:spPr>
          <a:xfrm>
            <a:off x="28768623" y="18123805"/>
            <a:ext cx="6664061" cy="474107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6"/>
          <a:srcRect l="3889" t="6776"/>
          <a:stretch/>
        </p:blipFill>
        <p:spPr>
          <a:xfrm>
            <a:off x="21904326" y="23722482"/>
            <a:ext cx="6637058" cy="4685209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7"/>
          <a:srcRect l="4526" t="6603"/>
          <a:stretch/>
        </p:blipFill>
        <p:spPr>
          <a:xfrm>
            <a:off x="29092158" y="23814223"/>
            <a:ext cx="6571301" cy="4757631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55009B54-5040-4B8B-91C3-ED7FF3B1B7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2289" y="30708879"/>
            <a:ext cx="35311439" cy="1582882"/>
          </a:xfrm>
          <a:prstGeom prst="rect">
            <a:avLst/>
          </a:prstGeom>
          <a:solidFill>
            <a:srgbClr val="438086"/>
          </a:solidFill>
          <a:ln w="12700">
            <a:noFill/>
            <a:miter lim="800000"/>
          </a:ln>
        </p:spPr>
        <p:txBody>
          <a:bodyPr wrap="none" lIns="274320" tIns="73152" rIns="274320" bIns="68563" anchor="ctr" anchorCtr="0"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9pPr>
          </a:lstStyle>
          <a:p>
            <a:pPr defTabSz="4702588">
              <a:defRPr/>
            </a:pPr>
            <a:endParaRPr lang="en-US" sz="3600" b="1" dirty="0">
              <a:solidFill>
                <a:schemeClr val="bg1"/>
              </a:solidFill>
              <a:latin typeface="Libre Baskerville" panose="02000000000000000000" pitchFamily="2" charset="0"/>
            </a:endParaRPr>
          </a:p>
        </p:txBody>
      </p:sp>
      <p:sp>
        <p:nvSpPr>
          <p:cNvPr id="11" name="Rectangle 4"/>
          <p:cNvSpPr>
            <a:spLocks noChangeArrowheads="1"/>
          </p:cNvSpPr>
          <p:nvPr/>
        </p:nvSpPr>
        <p:spPr bwMode="auto">
          <a:xfrm>
            <a:off x="0" y="457200"/>
            <a:ext cx="438912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16" name="Table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1006083"/>
              </p:ext>
            </p:extLst>
          </p:nvPr>
        </p:nvGraphicFramePr>
        <p:xfrm>
          <a:off x="33680400" y="9235311"/>
          <a:ext cx="9425873" cy="4178465"/>
        </p:xfrm>
        <a:graphic>
          <a:graphicData uri="http://schemas.openxmlformats.org/drawingml/2006/table">
            <a:tbl>
              <a:tblPr firstRow="1" bandRow="1">
                <a:tableStyleId>{AF606853-7671-496A-8E4F-DF71F8EC918B}</a:tableStyleId>
              </a:tblPr>
              <a:tblGrid>
                <a:gridCol w="2525224">
                  <a:extLst>
                    <a:ext uri="{9D8B030D-6E8A-4147-A177-3AD203B41FA5}">
                      <a16:colId xmlns:a16="http://schemas.microsoft.com/office/drawing/2014/main" val="3985642968"/>
                    </a:ext>
                  </a:extLst>
                </a:gridCol>
                <a:gridCol w="1482629">
                  <a:extLst>
                    <a:ext uri="{9D8B030D-6E8A-4147-A177-3AD203B41FA5}">
                      <a16:colId xmlns:a16="http://schemas.microsoft.com/office/drawing/2014/main" val="207062203"/>
                    </a:ext>
                  </a:extLst>
                </a:gridCol>
                <a:gridCol w="2051980">
                  <a:extLst>
                    <a:ext uri="{9D8B030D-6E8A-4147-A177-3AD203B41FA5}">
                      <a16:colId xmlns:a16="http://schemas.microsoft.com/office/drawing/2014/main" val="3565799049"/>
                    </a:ext>
                  </a:extLst>
                </a:gridCol>
                <a:gridCol w="1602927">
                  <a:extLst>
                    <a:ext uri="{9D8B030D-6E8A-4147-A177-3AD203B41FA5}">
                      <a16:colId xmlns:a16="http://schemas.microsoft.com/office/drawing/2014/main" val="3564931040"/>
                    </a:ext>
                  </a:extLst>
                </a:gridCol>
                <a:gridCol w="1763113">
                  <a:extLst>
                    <a:ext uri="{9D8B030D-6E8A-4147-A177-3AD203B41FA5}">
                      <a16:colId xmlns:a16="http://schemas.microsoft.com/office/drawing/2014/main" val="1816844714"/>
                    </a:ext>
                  </a:extLst>
                </a:gridCol>
              </a:tblGrid>
              <a:tr h="1004051">
                <a:tc>
                  <a:txBody>
                    <a:bodyPr/>
                    <a:lstStyle/>
                    <a:p>
                      <a:r>
                        <a:rPr lang="sr-Latn-RS" sz="2800" dirty="0" smtClean="0"/>
                        <a:t>Metoda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smtClean="0"/>
                        <a:t>Mean </a:t>
                      </a:r>
                      <a:r>
                        <a:rPr lang="sr-Latn-RS" sz="2800" dirty="0" smtClean="0"/>
                        <a:t> IoU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smtClean="0"/>
                        <a:t>Median </a:t>
                      </a:r>
                      <a:r>
                        <a:rPr lang="en-US" sz="2800" dirty="0" err="1" smtClean="0"/>
                        <a:t>IoU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smtClean="0"/>
                        <a:t>Success rate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sr-Latn-RS" sz="2800" dirty="0" smtClean="0"/>
                        <a:t>Vreme po slici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569190"/>
                  </a:ext>
                </a:extLst>
              </a:tr>
              <a:tr h="674874">
                <a:tc>
                  <a:txBody>
                    <a:bodyPr/>
                    <a:lstStyle/>
                    <a:p>
                      <a:r>
                        <a:rPr lang="sr-Latn-RS" sz="2800" dirty="0" smtClean="0"/>
                        <a:t>Canny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800" dirty="0" smtClean="0"/>
                        <a:t>0.872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800" dirty="0" smtClean="0"/>
                        <a:t>0.989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800" dirty="0"/>
                        <a:t>90.3%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800" dirty="0" smtClean="0"/>
                        <a:t>72.6 </a:t>
                      </a:r>
                      <a:r>
                        <a:rPr lang="en-US" sz="2800" dirty="0" err="1" smtClean="0"/>
                        <a:t>ms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5578001"/>
                  </a:ext>
                </a:extLst>
              </a:tr>
              <a:tr h="550609">
                <a:tc>
                  <a:txBody>
                    <a:bodyPr/>
                    <a:lstStyle/>
                    <a:p>
                      <a:r>
                        <a:rPr lang="en-US" sz="2800" dirty="0" smtClean="0"/>
                        <a:t>Hough 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800" dirty="0" smtClean="0"/>
                        <a:t>0.783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800" dirty="0"/>
                        <a:t>0.845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800" dirty="0"/>
                        <a:t>97.3%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800" dirty="0" smtClean="0"/>
                        <a:t>385 </a:t>
                      </a:r>
                      <a:r>
                        <a:rPr lang="en-US" sz="2800" dirty="0" err="1" smtClean="0"/>
                        <a:t>ms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2014939"/>
                  </a:ext>
                </a:extLst>
              </a:tr>
              <a:tr h="888568">
                <a:tc>
                  <a:txBody>
                    <a:bodyPr/>
                    <a:lstStyle/>
                    <a:p>
                      <a:r>
                        <a:rPr lang="en-US" sz="2800" dirty="0" err="1" smtClean="0"/>
                        <a:t>Xpoints</a:t>
                      </a:r>
                      <a:r>
                        <a:rPr lang="en-US" sz="2800" dirty="0" smtClean="0"/>
                        <a:t>/</a:t>
                      </a:r>
                      <a:endParaRPr lang="sr-Latn-RS" sz="2800" dirty="0" smtClean="0"/>
                    </a:p>
                    <a:p>
                      <a:r>
                        <a:rPr lang="en-US" sz="2800" dirty="0" smtClean="0"/>
                        <a:t>RANSAC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smtClean="0"/>
                        <a:t>0.773</a:t>
                      </a:r>
                    </a:p>
                    <a:p>
                      <a:pPr algn="l"/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smtClean="0"/>
                        <a:t>0.773</a:t>
                      </a:r>
                    </a:p>
                    <a:p>
                      <a:pPr algn="l"/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800" dirty="0"/>
                        <a:t>100%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800" dirty="0" smtClean="0"/>
                        <a:t>1.23 s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382079"/>
                  </a:ext>
                </a:extLst>
              </a:tr>
              <a:tr h="1004051">
                <a:tc>
                  <a:txBody>
                    <a:bodyPr/>
                    <a:lstStyle/>
                    <a:p>
                      <a:r>
                        <a:rPr lang="en-US" sz="2800" dirty="0" smtClean="0"/>
                        <a:t>DNN-filtered </a:t>
                      </a:r>
                      <a:r>
                        <a:rPr lang="en-US" sz="2800" dirty="0" err="1" smtClean="0"/>
                        <a:t>Xpoints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smtClean="0"/>
                        <a:t>0.836</a:t>
                      </a:r>
                    </a:p>
                    <a:p>
                      <a:pPr algn="l"/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smtClean="0"/>
                        <a:t>0.836</a:t>
                      </a:r>
                    </a:p>
                    <a:p>
                      <a:pPr algn="l"/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sr-Latn-RS" sz="2800" dirty="0" smtClean="0"/>
                        <a:t>100%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800" dirty="0"/>
                        <a:t>~840 </a:t>
                      </a:r>
                      <a:r>
                        <a:rPr lang="en-US" sz="2800" dirty="0" err="1"/>
                        <a:t>ms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7188612"/>
                  </a:ext>
                </a:extLst>
              </a:tr>
            </a:tbl>
          </a:graphicData>
        </a:graphic>
      </p:graphicFrame>
      <p:pic>
        <p:nvPicPr>
          <p:cNvPr id="17" name="Picture 1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4667" y="26832868"/>
            <a:ext cx="4831886" cy="3458374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22024668" y="29306535"/>
            <a:ext cx="13310350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b="1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Praktična</a:t>
            </a:r>
            <a:r>
              <a:rPr lang="en-US" sz="36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6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preporuka</a:t>
            </a:r>
            <a:r>
              <a:rPr lang="en-US" sz="36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:</a:t>
            </a:r>
            <a:r>
              <a:rPr lang="sr-Latn-RS" sz="36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6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koristiti</a:t>
            </a:r>
            <a:r>
              <a:rPr lang="en-US" sz="36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6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Canny-first</a:t>
            </a:r>
            <a:r>
              <a:rPr lang="en-US" sz="36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</a:t>
            </a:r>
            <a:r>
              <a:rPr lang="en-US" sz="36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 </a:t>
            </a:r>
            <a:r>
              <a:rPr lang="en-US" sz="36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Xpoints</a:t>
            </a:r>
            <a:r>
              <a:rPr lang="en-US" sz="36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/DNN</a:t>
            </a:r>
            <a:r>
              <a:rPr lang="en-US" sz="36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600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kao</a:t>
            </a:r>
            <a:r>
              <a:rPr lang="en-US" sz="36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6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fallback u </a:t>
            </a:r>
            <a:r>
              <a:rPr lang="en-US" sz="36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teškim</a:t>
            </a:r>
            <a:r>
              <a:rPr lang="en-US" sz="36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6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scenama</a:t>
            </a:r>
            <a:r>
              <a:rPr lang="en-US" sz="36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(</a:t>
            </a:r>
            <a:r>
              <a:rPr lang="en-US" sz="36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perspektiva</a:t>
            </a:r>
            <a:r>
              <a:rPr lang="en-US" sz="36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</a:t>
            </a:r>
            <a:r>
              <a:rPr lang="en-US" sz="36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senke</a:t>
            </a:r>
            <a:r>
              <a:rPr lang="en-US" sz="36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</a:t>
            </a:r>
            <a:r>
              <a:rPr lang="en-US" sz="36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refleksije</a:t>
            </a:r>
            <a:r>
              <a:rPr lang="en-US" sz="36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).</a:t>
            </a:r>
          </a:p>
          <a:p>
            <a:endParaRPr lang="en-US" dirty="0"/>
          </a:p>
        </p:txBody>
      </p:sp>
      <p:pic>
        <p:nvPicPr>
          <p:cNvPr id="43" name="Picture 4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189710" y="27831548"/>
            <a:ext cx="6896422" cy="4490693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24416445" y="17430604"/>
            <a:ext cx="202362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b="1" dirty="0" smtClean="0"/>
              <a:t>CNN</a:t>
            </a:r>
            <a:endParaRPr lang="en-US" b="1" dirty="0"/>
          </a:p>
        </p:txBody>
      </p:sp>
      <p:sp>
        <p:nvSpPr>
          <p:cNvPr id="46" name="TextBox 45"/>
          <p:cNvSpPr txBox="1"/>
          <p:nvPr/>
        </p:nvSpPr>
        <p:spPr>
          <a:xfrm>
            <a:off x="31088843" y="17429792"/>
            <a:ext cx="202362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b="1" dirty="0" smtClean="0"/>
              <a:t>Canny</a:t>
            </a:r>
            <a:endParaRPr lang="en-US" b="1" dirty="0"/>
          </a:p>
        </p:txBody>
      </p:sp>
      <p:sp>
        <p:nvSpPr>
          <p:cNvPr id="47" name="TextBox 46"/>
          <p:cNvSpPr txBox="1"/>
          <p:nvPr/>
        </p:nvSpPr>
        <p:spPr>
          <a:xfrm>
            <a:off x="24319888" y="23008291"/>
            <a:ext cx="202362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b="1" dirty="0" smtClean="0"/>
              <a:t>Hough</a:t>
            </a:r>
            <a:endParaRPr lang="en-US" b="1" dirty="0"/>
          </a:p>
        </p:txBody>
      </p:sp>
      <p:sp>
        <p:nvSpPr>
          <p:cNvPr id="48" name="TextBox 47"/>
          <p:cNvSpPr txBox="1"/>
          <p:nvPr/>
        </p:nvSpPr>
        <p:spPr>
          <a:xfrm>
            <a:off x="30092253" y="23008291"/>
            <a:ext cx="5253054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b="1" dirty="0" smtClean="0"/>
              <a:t>Xpoints/RANSAC</a:t>
            </a:r>
            <a:endParaRPr lang="en-US" b="1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C93C6F59-1B0C-4EDA-8518-F88FAC8AF1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500" y="23689158"/>
            <a:ext cx="10058400" cy="87330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noFill/>
            <a:miter lim="800000"/>
          </a:ln>
        </p:spPr>
        <p:txBody>
          <a:bodyPr wrap="none" lIns="274320" tIns="73152" rIns="274320" bIns="68563" anchor="ctr" anchorCtr="0"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9pPr>
          </a:lstStyle>
          <a:p>
            <a:pPr defTabSz="4702588">
              <a:defRPr/>
            </a:pPr>
            <a:r>
              <a:rPr lang="sr-Latn-RS" sz="3600" b="1" dirty="0">
                <a:solidFill>
                  <a:schemeClr val="bg1"/>
                </a:solidFill>
                <a:latin typeface="Libre Baskerville" panose="02000000000000000000" pitchFamily="2" charset="0"/>
              </a:rPr>
              <a:t>Detekcija </a:t>
            </a:r>
            <a:r>
              <a:rPr lang="sr-Latn-RS" sz="3600" b="1" dirty="0" smtClean="0">
                <a:solidFill>
                  <a:schemeClr val="bg1"/>
                </a:solidFill>
                <a:latin typeface="Libre Baskerville" panose="02000000000000000000" pitchFamily="2" charset="0"/>
              </a:rPr>
              <a:t>figura </a:t>
            </a:r>
            <a:r>
              <a:rPr lang="sr-Latn-RS" sz="3600" b="1" dirty="0">
                <a:solidFill>
                  <a:schemeClr val="bg1"/>
                </a:solidFill>
                <a:latin typeface="Libre Baskerville" panose="02000000000000000000" pitchFamily="2" charset="0"/>
              </a:rPr>
              <a:t>- Evaluacija i diskusija</a:t>
            </a:r>
            <a:endParaRPr lang="en-US" sz="3600" b="1" dirty="0">
              <a:solidFill>
                <a:schemeClr val="bg1"/>
              </a:solidFill>
              <a:latin typeface="Libre Baskerville" panose="02000000000000000000" pitchFamily="2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284088" y="23257864"/>
            <a:ext cx="83557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Source: Google Trends - Search Interest for </a:t>
            </a:r>
            <a:r>
              <a:rPr lang="en-US" sz="1400" dirty="0" smtClean="0"/>
              <a:t>Terms "</a:t>
            </a:r>
            <a:r>
              <a:rPr lang="en-US" sz="1400" dirty="0"/>
              <a:t>Chess", "Formula 1", "Poker", </a:t>
            </a:r>
            <a:r>
              <a:rPr lang="en-US" sz="1400" dirty="0" smtClean="0"/>
              <a:t>"</a:t>
            </a:r>
            <a:r>
              <a:rPr lang="en-US" sz="1400" dirty="0"/>
              <a:t>League of </a:t>
            </a:r>
            <a:r>
              <a:rPr lang="en-US" sz="1400" dirty="0" smtClean="0"/>
              <a:t>Legends</a:t>
            </a:r>
            <a:r>
              <a:rPr lang="sr-Latn-RS" sz="1400" dirty="0" smtClean="0"/>
              <a:t>“</a:t>
            </a:r>
            <a:endParaRPr lang="en-US" sz="1400" dirty="0"/>
          </a:p>
        </p:txBody>
      </p:sp>
      <p:sp>
        <p:nvSpPr>
          <p:cNvPr id="53" name="Rectangle 52"/>
          <p:cNvSpPr/>
          <p:nvPr/>
        </p:nvSpPr>
        <p:spPr>
          <a:xfrm>
            <a:off x="11143987" y="24779022"/>
            <a:ext cx="10297829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r-Latn-RS" sz="3600" dirty="0"/>
              <a:t>M</a:t>
            </a:r>
            <a:r>
              <a:rPr lang="en-US" sz="3600" dirty="0" err="1" smtClean="0"/>
              <a:t>odel</a:t>
            </a:r>
            <a:r>
              <a:rPr lang="en-US" sz="3600" dirty="0" smtClean="0"/>
              <a:t> </a:t>
            </a:r>
            <a:r>
              <a:rPr lang="en-US" sz="3600" dirty="0" err="1"/>
              <a:t>pouzdano</a:t>
            </a:r>
            <a:r>
              <a:rPr lang="en-US" sz="3600" dirty="0"/>
              <a:t> </a:t>
            </a:r>
            <a:r>
              <a:rPr lang="en-US" sz="3600" dirty="0" err="1"/>
              <a:t>pronalazi</a:t>
            </a:r>
            <a:r>
              <a:rPr lang="en-US" sz="3600" dirty="0"/>
              <a:t> figure </a:t>
            </a:r>
            <a:r>
              <a:rPr lang="en-US" sz="3600" dirty="0" err="1"/>
              <a:t>i</a:t>
            </a:r>
            <a:r>
              <a:rPr lang="en-US" sz="3600" dirty="0"/>
              <a:t> </a:t>
            </a:r>
            <a:r>
              <a:rPr lang="en-US" sz="3600" dirty="0" err="1"/>
              <a:t>ispravno</a:t>
            </a:r>
            <a:r>
              <a:rPr lang="en-US" sz="3600" dirty="0"/>
              <a:t> </a:t>
            </a:r>
            <a:r>
              <a:rPr lang="en-US" sz="3600" dirty="0" err="1"/>
              <a:t>ih</a:t>
            </a:r>
            <a:r>
              <a:rPr lang="en-US" sz="3600" dirty="0"/>
              <a:t> </a:t>
            </a:r>
            <a:r>
              <a:rPr lang="en-US" sz="3600" dirty="0" err="1" smtClean="0"/>
              <a:t>klasifikuje</a:t>
            </a:r>
            <a:r>
              <a:rPr lang="en-US" sz="3600" dirty="0" smtClean="0"/>
              <a:t>,</a:t>
            </a:r>
            <a:r>
              <a:rPr lang="sr-Latn-RS" sz="3600" dirty="0" smtClean="0"/>
              <a:t> dok </a:t>
            </a:r>
            <a:r>
              <a:rPr lang="en-US" sz="3600" dirty="0" err="1" smtClean="0"/>
              <a:t>pri</a:t>
            </a:r>
            <a:r>
              <a:rPr lang="en-US" sz="3600" dirty="0" smtClean="0"/>
              <a:t> </a:t>
            </a:r>
            <a:r>
              <a:rPr lang="en-US" sz="3600" dirty="0" err="1"/>
              <a:t>strožim</a:t>
            </a:r>
            <a:r>
              <a:rPr lang="en-US" sz="3600" dirty="0"/>
              <a:t> </a:t>
            </a:r>
            <a:r>
              <a:rPr lang="en-US" sz="3600" dirty="0" err="1"/>
              <a:t>IoU</a:t>
            </a:r>
            <a:r>
              <a:rPr lang="en-US" sz="3600" dirty="0"/>
              <a:t> </a:t>
            </a:r>
            <a:r>
              <a:rPr lang="en-US" sz="3600" dirty="0" err="1"/>
              <a:t>pragovima</a:t>
            </a:r>
            <a:r>
              <a:rPr lang="en-US" sz="3600" dirty="0"/>
              <a:t> </a:t>
            </a:r>
            <a:r>
              <a:rPr lang="en-US" sz="3600" dirty="0" err="1"/>
              <a:t>lokalizacija</a:t>
            </a:r>
            <a:r>
              <a:rPr lang="en-US" sz="3600" dirty="0"/>
              <a:t> </a:t>
            </a:r>
            <a:r>
              <a:rPr lang="en-US" sz="3600" dirty="0" err="1"/>
              <a:t>ponekad</a:t>
            </a:r>
            <a:r>
              <a:rPr lang="en-US" sz="3600" dirty="0"/>
              <a:t> </a:t>
            </a:r>
            <a:r>
              <a:rPr lang="en-US" sz="3600" dirty="0" err="1"/>
              <a:t>manje</a:t>
            </a:r>
            <a:r>
              <a:rPr lang="en-US" sz="3600" dirty="0"/>
              <a:t> </a:t>
            </a:r>
            <a:r>
              <a:rPr lang="en-US" sz="3600" dirty="0" err="1" smtClean="0"/>
              <a:t>precizna</a:t>
            </a:r>
            <a:endParaRPr lang="en-US" sz="3600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93C6F59-1B0C-4EDA-8518-F88FAC8AF1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22390" y="23722482"/>
            <a:ext cx="10266051" cy="84794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noFill/>
            <a:miter lim="800000"/>
          </a:ln>
        </p:spPr>
        <p:txBody>
          <a:bodyPr wrap="none" lIns="274320" tIns="73152" rIns="274320" bIns="68563" anchor="ctr" anchorCtr="0"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9pPr>
          </a:lstStyle>
          <a:p>
            <a:pPr defTabSz="4702588">
              <a:defRPr/>
            </a:pPr>
            <a:r>
              <a:rPr lang="sr-Latn-RS" sz="3600" b="1" dirty="0">
                <a:solidFill>
                  <a:schemeClr val="bg1"/>
                </a:solidFill>
                <a:latin typeface="Libre Baskerville" panose="02000000000000000000" pitchFamily="2" charset="0"/>
              </a:rPr>
              <a:t>Detekcija </a:t>
            </a:r>
            <a:r>
              <a:rPr lang="sr-Latn-RS" sz="3600" b="1" dirty="0" smtClean="0">
                <a:solidFill>
                  <a:schemeClr val="bg1"/>
                </a:solidFill>
                <a:latin typeface="Libre Baskerville" panose="02000000000000000000" pitchFamily="2" charset="0"/>
              </a:rPr>
              <a:t>figura </a:t>
            </a:r>
            <a:r>
              <a:rPr lang="sr-Latn-RS" sz="3600" b="1" dirty="0">
                <a:solidFill>
                  <a:schemeClr val="bg1"/>
                </a:solidFill>
                <a:latin typeface="Libre Baskerville" panose="02000000000000000000" pitchFamily="2" charset="0"/>
              </a:rPr>
              <a:t>- </a:t>
            </a:r>
            <a:r>
              <a:rPr lang="sr-Latn-RS" sz="3600" b="1" dirty="0" smtClean="0">
                <a:solidFill>
                  <a:schemeClr val="bg1"/>
                </a:solidFill>
                <a:latin typeface="Libre Baskerville" panose="02000000000000000000" pitchFamily="2" charset="0"/>
              </a:rPr>
              <a:t>Rezultati</a:t>
            </a:r>
            <a:endParaRPr lang="en-US" sz="3600" b="1" dirty="0">
              <a:solidFill>
                <a:schemeClr val="bg1"/>
              </a:solidFill>
              <a:latin typeface="Libre Baskerville" panose="02000000000000000000" pitchFamily="2" charset="0"/>
            </a:endParaRPr>
          </a:p>
        </p:txBody>
      </p:sp>
      <p:graphicFrame>
        <p:nvGraphicFramePr>
          <p:cNvPr id="58" name="Table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7405574"/>
              </p:ext>
            </p:extLst>
          </p:nvPr>
        </p:nvGraphicFramePr>
        <p:xfrm>
          <a:off x="533402" y="28701554"/>
          <a:ext cx="10058399" cy="1497533"/>
        </p:xfrm>
        <a:graphic>
          <a:graphicData uri="http://schemas.openxmlformats.org/drawingml/2006/table">
            <a:tbl>
              <a:tblPr firstRow="1" bandRow="1">
                <a:tableStyleId>{AF606853-7671-496A-8E4F-DF71F8EC918B}</a:tableStyleId>
              </a:tblPr>
              <a:tblGrid>
                <a:gridCol w="1414330">
                  <a:extLst>
                    <a:ext uri="{9D8B030D-6E8A-4147-A177-3AD203B41FA5}">
                      <a16:colId xmlns:a16="http://schemas.microsoft.com/office/drawing/2014/main" val="3985642968"/>
                    </a:ext>
                  </a:extLst>
                </a:gridCol>
                <a:gridCol w="1964346">
                  <a:extLst>
                    <a:ext uri="{9D8B030D-6E8A-4147-A177-3AD203B41FA5}">
                      <a16:colId xmlns:a16="http://schemas.microsoft.com/office/drawing/2014/main" val="3565799049"/>
                    </a:ext>
                  </a:extLst>
                </a:gridCol>
                <a:gridCol w="1650051">
                  <a:extLst>
                    <a:ext uri="{9D8B030D-6E8A-4147-A177-3AD203B41FA5}">
                      <a16:colId xmlns:a16="http://schemas.microsoft.com/office/drawing/2014/main" val="3564931040"/>
                    </a:ext>
                  </a:extLst>
                </a:gridCol>
                <a:gridCol w="2271247">
                  <a:extLst>
                    <a:ext uri="{9D8B030D-6E8A-4147-A177-3AD203B41FA5}">
                      <a16:colId xmlns:a16="http://schemas.microsoft.com/office/drawing/2014/main" val="1816844714"/>
                    </a:ext>
                  </a:extLst>
                </a:gridCol>
                <a:gridCol w="2758425">
                  <a:extLst>
                    <a:ext uri="{9D8B030D-6E8A-4147-A177-3AD203B41FA5}">
                      <a16:colId xmlns:a16="http://schemas.microsoft.com/office/drawing/2014/main" val="4277684694"/>
                    </a:ext>
                  </a:extLst>
                </a:gridCol>
              </a:tblGrid>
              <a:tr h="967157">
                <a:tc>
                  <a:txBody>
                    <a:bodyPr/>
                    <a:lstStyle/>
                    <a:p>
                      <a:r>
                        <a:rPr lang="sr-Latn-RS" sz="2800" dirty="0" smtClean="0"/>
                        <a:t>Split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sr-Latn-RS" sz="2800" dirty="0" smtClean="0"/>
                        <a:t>Precision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sr-Latn-RS" sz="2800" dirty="0" smtClean="0"/>
                        <a:t>Recall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sr-Latn-RS" sz="2800" dirty="0" smtClean="0"/>
                        <a:t>mAP@50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sr-Latn-RS" sz="2800" dirty="0" smtClean="0"/>
                        <a:t>mAP@50-95</a:t>
                      </a:r>
                      <a:endParaRPr lang="en-US" sz="2800" dirty="0" smtClean="0"/>
                    </a:p>
                    <a:p>
                      <a:pPr algn="ctr"/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569190"/>
                  </a:ext>
                </a:extLst>
              </a:tr>
              <a:tr h="530376">
                <a:tc>
                  <a:txBody>
                    <a:bodyPr/>
                    <a:lstStyle/>
                    <a:p>
                      <a:r>
                        <a:rPr lang="sr-Latn-RS" sz="2800" dirty="0" smtClean="0"/>
                        <a:t>Test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sr-Latn-RS" sz="2800" dirty="0" smtClean="0"/>
                        <a:t>97.5%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sr-Latn-RS" sz="2800" dirty="0" smtClean="0"/>
                        <a:t>97.6%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sr-Latn-RS" sz="2800" dirty="0" smtClean="0"/>
                        <a:t>98.2%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sr-Latn-RS" sz="2800" dirty="0" smtClean="0"/>
                        <a:t>81.3%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2014939"/>
                  </a:ext>
                </a:extLst>
              </a:tr>
            </a:tbl>
          </a:graphicData>
        </a:graphic>
      </p:graphicFrame>
      <p:pic>
        <p:nvPicPr>
          <p:cNvPr id="56" name="Picture 55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492534" y="26832868"/>
            <a:ext cx="4677442" cy="3458374"/>
          </a:xfrm>
          <a:prstGeom prst="rect">
            <a:avLst/>
          </a:prstGeom>
        </p:spPr>
      </p:pic>
      <p:sp>
        <p:nvSpPr>
          <p:cNvPr id="59" name="Rectangle 58"/>
          <p:cNvSpPr/>
          <p:nvPr/>
        </p:nvSpPr>
        <p:spPr>
          <a:xfrm>
            <a:off x="489175" y="24660490"/>
            <a:ext cx="10159241" cy="42780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3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YOLO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predviđa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bbox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</a:t>
            </a:r>
            <a:r>
              <a:rPr lang="en-US" sz="33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klasu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confidence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za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svaku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figuru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.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Predikcije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se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uparuju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sa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GT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anotacijama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preko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IoU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;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detekcija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je TP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ako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je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klasa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tačna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IoU</a:t>
            </a:r>
            <a:r>
              <a:rPr lang="en-US" sz="33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≥ 0.50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(mAP@50),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dok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se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preostali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slučajevi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računaju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kao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FP/FN. Na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osnovu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toga se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računaju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Precision/Recall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a </a:t>
            </a:r>
            <a:r>
              <a:rPr lang="en-US" sz="33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mAP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sumira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performanse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kroz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različite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confidence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pragove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.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11337297" y="10157954"/>
            <a:ext cx="2209800" cy="593943"/>
          </a:xfrm>
          <a:prstGeom prst="rect">
            <a:avLst/>
          </a:prstGeom>
          <a:ln>
            <a:headEnd type="none" w="med" len="med"/>
            <a:tailEnd type="none" w="med" len="med"/>
          </a:ln>
          <a:extLst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47037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sr-Latn-RS" sz="32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IVICE</a:t>
            </a:r>
            <a:endParaRPr kumimoji="0" lang="en-US" sz="32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14269021" y="10160008"/>
            <a:ext cx="2477257" cy="593942"/>
          </a:xfrm>
          <a:prstGeom prst="rect">
            <a:avLst/>
          </a:prstGeom>
          <a:ln>
            <a:headEnd type="none" w="med" len="med"/>
            <a:tailEnd type="none" w="med" len="med"/>
          </a:ln>
          <a:extLst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47037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sr-Latn-RS" sz="32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KONTURE</a:t>
            </a:r>
            <a:endParaRPr kumimoji="0" lang="en-US" sz="32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63" name="Rectangle 62"/>
          <p:cNvSpPr/>
          <p:nvPr/>
        </p:nvSpPr>
        <p:spPr bwMode="auto">
          <a:xfrm>
            <a:off x="17487899" y="9927441"/>
            <a:ext cx="3828435" cy="824456"/>
          </a:xfrm>
          <a:prstGeom prst="rect">
            <a:avLst/>
          </a:prstGeom>
          <a:ln>
            <a:headEnd type="none" w="med" len="med"/>
            <a:tailEnd type="none" w="med" len="med"/>
          </a:ln>
          <a:extLst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47037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sr-Latn-RS" sz="28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NAJBOLJI</a:t>
            </a:r>
            <a:r>
              <a:rPr lang="sr-Latn-RS" sz="2800" b="1" dirty="0" smtClean="0">
                <a:solidFill>
                  <a:schemeClr val="tx1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ČETVOROUGAO</a:t>
            </a:r>
            <a:endParaRPr lang="sr-Latn-RS" sz="2800" b="1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64" name="Rectangle 63"/>
          <p:cNvSpPr/>
          <p:nvPr/>
        </p:nvSpPr>
        <p:spPr bwMode="auto">
          <a:xfrm>
            <a:off x="11337297" y="12798882"/>
            <a:ext cx="2215678" cy="584221"/>
          </a:xfrm>
          <a:prstGeom prst="rect">
            <a:avLst/>
          </a:prstGeom>
          <a:ln>
            <a:headEnd type="none" w="med" len="med"/>
            <a:tailEnd type="none" w="med" len="med"/>
          </a:ln>
          <a:extLst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47037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sr-Latn-RS" sz="32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LINIJE</a:t>
            </a:r>
            <a:endParaRPr kumimoji="0" lang="en-US" sz="32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65" name="Rectangle 64"/>
          <p:cNvSpPr/>
          <p:nvPr/>
        </p:nvSpPr>
        <p:spPr bwMode="auto">
          <a:xfrm>
            <a:off x="14062175" y="12654745"/>
            <a:ext cx="3756888" cy="886357"/>
          </a:xfrm>
          <a:prstGeom prst="rect">
            <a:avLst/>
          </a:prstGeom>
          <a:ln>
            <a:headEnd type="none" w="med" len="med"/>
            <a:tailEnd type="none" w="med" len="med"/>
          </a:ln>
          <a:extLst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 defTabSz="4703763"/>
            <a:r>
              <a:rPr lang="sr-Latn-RS" sz="28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2 OTROGONALNE GRUPE</a:t>
            </a:r>
            <a:endParaRPr kumimoji="0" lang="en-US" sz="2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6" name="Rectangle 65"/>
          <p:cNvSpPr/>
          <p:nvPr/>
        </p:nvSpPr>
        <p:spPr bwMode="auto">
          <a:xfrm>
            <a:off x="18151429" y="12654745"/>
            <a:ext cx="3164905" cy="891828"/>
          </a:xfrm>
          <a:prstGeom prst="rect">
            <a:avLst/>
          </a:prstGeom>
          <a:ln>
            <a:headEnd type="none" w="med" len="med"/>
            <a:tailEnd type="none" w="med" len="med"/>
          </a:ln>
          <a:extLst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47037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sr-Latn-RS" sz="28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KANDIDAT</a:t>
            </a:r>
            <a:r>
              <a:rPr lang="sr-Latn-RS" sz="2800" dirty="0" smtClean="0">
                <a:solidFill>
                  <a:schemeClr val="tx1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sr-Latn-RS" sz="2800" b="1" dirty="0" smtClean="0">
                <a:solidFill>
                  <a:schemeClr val="tx1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ČETVOROUGLA</a:t>
            </a:r>
            <a:endParaRPr lang="sr-Latn-RS" sz="2800" b="1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67" name="Rectangle 66"/>
          <p:cNvSpPr/>
          <p:nvPr/>
        </p:nvSpPr>
        <p:spPr bwMode="auto">
          <a:xfrm>
            <a:off x="11174667" y="16191090"/>
            <a:ext cx="2772704" cy="1140217"/>
          </a:xfrm>
          <a:prstGeom prst="rect">
            <a:avLst/>
          </a:prstGeom>
          <a:ln>
            <a:headEnd type="none" w="med" len="med"/>
            <a:tailEnd type="none" w="med" len="med"/>
          </a:ln>
          <a:extLst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47037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sr-Latn-RS" sz="32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UNUTRAŠNJI PRESECI</a:t>
            </a:r>
            <a:endParaRPr kumimoji="0" lang="en-US" sz="32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68" name="Rectangle 67"/>
          <p:cNvSpPr/>
          <p:nvPr/>
        </p:nvSpPr>
        <p:spPr bwMode="auto">
          <a:xfrm>
            <a:off x="14636607" y="16244980"/>
            <a:ext cx="2332504" cy="1097803"/>
          </a:xfrm>
          <a:prstGeom prst="rect">
            <a:avLst/>
          </a:prstGeom>
          <a:ln>
            <a:headEnd type="none" w="med" len="med"/>
            <a:tailEnd type="none" w="med" len="med"/>
          </a:ln>
          <a:extLst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 defTabSz="4703763"/>
            <a:r>
              <a:rPr lang="en-US" sz="32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RANSAC</a:t>
            </a:r>
            <a:r>
              <a:rPr lang="sr-Latn-RS" sz="32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INLINERI</a:t>
            </a:r>
            <a:endParaRPr kumimoji="0" lang="en-US" sz="32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69" name="Rectangle 68"/>
          <p:cNvSpPr/>
          <p:nvPr/>
        </p:nvSpPr>
        <p:spPr bwMode="auto">
          <a:xfrm>
            <a:off x="17624908" y="16450276"/>
            <a:ext cx="3667987" cy="609569"/>
          </a:xfrm>
          <a:prstGeom prst="rect">
            <a:avLst/>
          </a:prstGeom>
          <a:ln>
            <a:headEnd type="none" w="med" len="med"/>
            <a:tailEnd type="none" w="med" len="med"/>
          </a:ln>
          <a:extLst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47037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sr-Latn-RS" sz="32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HOMOGRAFIJA</a:t>
            </a:r>
            <a:endParaRPr kumimoji="0" lang="en-US" sz="32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60" name="Right Arrow 59"/>
          <p:cNvSpPr/>
          <p:nvPr/>
        </p:nvSpPr>
        <p:spPr bwMode="auto">
          <a:xfrm>
            <a:off x="13547097" y="10221521"/>
            <a:ext cx="762000" cy="564632"/>
          </a:xfrm>
          <a:prstGeom prst="rightArrow">
            <a:avLst/>
          </a:prstGeom>
          <a:ln>
            <a:headEnd type="none" w="med" len="med"/>
            <a:tailEnd type="none" w="med" len="med"/>
          </a:ln>
          <a:extLst/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7037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3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Right Arrow 70"/>
          <p:cNvSpPr/>
          <p:nvPr/>
        </p:nvSpPr>
        <p:spPr bwMode="auto">
          <a:xfrm>
            <a:off x="16748441" y="10187265"/>
            <a:ext cx="762000" cy="564632"/>
          </a:xfrm>
          <a:prstGeom prst="rightArrow">
            <a:avLst/>
          </a:prstGeom>
          <a:ln>
            <a:headEnd type="none" w="med" len="med"/>
            <a:tailEnd type="none" w="med" len="med"/>
          </a:ln>
          <a:extLst/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7037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3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2" name="Right Arrow 71"/>
          <p:cNvSpPr/>
          <p:nvPr/>
        </p:nvSpPr>
        <p:spPr bwMode="auto">
          <a:xfrm>
            <a:off x="13501740" y="12833783"/>
            <a:ext cx="762000" cy="564632"/>
          </a:xfrm>
          <a:prstGeom prst="rightArrow">
            <a:avLst/>
          </a:prstGeom>
          <a:ln>
            <a:headEnd type="none" w="med" len="med"/>
            <a:tailEnd type="none" w="med" len="med"/>
          </a:ln>
          <a:extLst/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7037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3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3" name="Right Arrow 72"/>
          <p:cNvSpPr/>
          <p:nvPr/>
        </p:nvSpPr>
        <p:spPr bwMode="auto">
          <a:xfrm>
            <a:off x="17756311" y="12833783"/>
            <a:ext cx="762000" cy="564632"/>
          </a:xfrm>
          <a:prstGeom prst="rightArrow">
            <a:avLst/>
          </a:prstGeom>
          <a:ln>
            <a:headEnd type="none" w="med" len="med"/>
            <a:tailEnd type="none" w="med" len="med"/>
          </a:ln>
          <a:extLst/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7037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3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4" name="Right Arrow 73"/>
          <p:cNvSpPr/>
          <p:nvPr/>
        </p:nvSpPr>
        <p:spPr bwMode="auto">
          <a:xfrm>
            <a:off x="13888021" y="16450277"/>
            <a:ext cx="762000" cy="564632"/>
          </a:xfrm>
          <a:prstGeom prst="rightArrow">
            <a:avLst/>
          </a:prstGeom>
          <a:ln>
            <a:headEnd type="none" w="med" len="med"/>
            <a:tailEnd type="none" w="med" len="med"/>
          </a:ln>
          <a:extLst/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7037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3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5" name="Right Arrow 74"/>
          <p:cNvSpPr/>
          <p:nvPr/>
        </p:nvSpPr>
        <p:spPr bwMode="auto">
          <a:xfrm>
            <a:off x="16977105" y="16511565"/>
            <a:ext cx="762000" cy="564632"/>
          </a:xfrm>
          <a:prstGeom prst="rightArrow">
            <a:avLst/>
          </a:prstGeom>
          <a:ln>
            <a:headEnd type="none" w="med" len="med"/>
            <a:tailEnd type="none" w="med" len="med"/>
          </a:ln>
          <a:extLst/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7037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3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4.0.30319.42000"/>
  <p:tag name="AS_OS" val="Microsoft Windows NT 6.2.9200.0"/>
  <p:tag name="AS_RELEASE_DATE" val="2022.04.14"/>
  <p:tag name="AS_TITLE" val="Aspose.Slides for .NET 4.0 Client Profile"/>
  <p:tag name="AS_VERSION" val="22.4"/>
  <p:tag name="POSTERNERDTEMPLATE" val="intellectualsage|08-2022"/>
</p:tagLst>
</file>

<file path=ppt/theme/theme1.xml><?xml version="1.0" encoding="utf-8"?>
<a:theme xmlns:a="http://schemas.openxmlformats.org/drawingml/2006/main" name="Default Design">
  <a:themeElements>
    <a:clrScheme name="Urban">
      <a:dk1>
        <a:sysClr val="windowText" lastClr="000000"/>
      </a:dk1>
      <a:lt1>
        <a:sysClr val="window" lastClr="FFFFFF"/>
      </a:lt1>
      <a:dk2>
        <a:srgbClr val="424456"/>
      </a:dk2>
      <a:lt2>
        <a:srgbClr val="DEDEDE"/>
      </a:lt2>
      <a:accent1>
        <a:srgbClr val="53548A"/>
      </a:accent1>
      <a:accent2>
        <a:srgbClr val="438086"/>
      </a:accent2>
      <a:accent3>
        <a:srgbClr val="A04DA3"/>
      </a:accent3>
      <a:accent4>
        <a:srgbClr val="C4652D"/>
      </a:accent4>
      <a:accent5>
        <a:srgbClr val="8B5D3D"/>
      </a:accent5>
      <a:accent6>
        <a:srgbClr val="5C92B5"/>
      </a:accent6>
      <a:hlink>
        <a:srgbClr val="67AFBD"/>
      </a:hlink>
      <a:folHlink>
        <a:srgbClr val="C2A874"/>
      </a:folHlink>
    </a:clrScheme>
    <a:fontScheme name="Default Design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703763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3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703763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3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1658</TotalTime>
  <Words>591</Words>
  <Application>Microsoft Office PowerPoint</Application>
  <PresentationFormat>Custom</PresentationFormat>
  <Paragraphs>119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Libre Baskerville</vt:lpstr>
      <vt:lpstr>Arial</vt:lpstr>
      <vt:lpstr>Montserrat Light</vt:lpstr>
      <vt:lpstr>Sans Serif Collection</vt:lpstr>
      <vt:lpstr>Default Design</vt:lpstr>
      <vt:lpstr>PowerPoint Presentation</vt:lpstr>
    </vt:vector>
  </TitlesOfParts>
  <Company>Graphicsland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to make a scientific poster</dc:title>
  <dc:subject>Free Research Poster</dc:subject>
  <dc:creator>Graphicsland/MakeSigns.com</dc:creator>
  <cp:keywords>scientific, research, template, custom, poster, presentation, symposium, printing, PowerPoint, create, design, example, sample, download</cp:keywords>
  <dc:description>This is a free template from MakeSigns.com to help you create the perfect scientific poster.</dc:description>
  <cp:lastModifiedBy>Andjela</cp:lastModifiedBy>
  <cp:revision>59</cp:revision>
  <dcterms:modified xsi:type="dcterms:W3CDTF">2026-02-26T21:51:19Z</dcterms:modified>
  <cp:category>templates for scientific poster</cp:category>
</cp:coreProperties>
</file>